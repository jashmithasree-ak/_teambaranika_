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Montserrat Bold" charset="1" panose="00000800000000000000"/>
      <p:regular r:id="rId16"/>
    </p:embeddedFont>
    <p:embeddedFont>
      <p:font typeface="Inter Semi-Bold" charset="1" panose="02000503000000020004"/>
      <p:regular r:id="rId17"/>
    </p:embeddedFont>
    <p:embeddedFont>
      <p:font typeface="Inter Bold" charset="1" panose="02000503000000020004"/>
      <p:regular r:id="rId18"/>
    </p:embeddedFont>
    <p:embeddedFont>
      <p:font typeface="Canva Sans" charset="1" panose="020B0503030501040103"/>
      <p:regular r:id="rId19"/>
    </p:embeddedFont>
    <p:embeddedFont>
      <p:font typeface="Canva Sans Bold" charset="1" panose="020B0803030501040103"/>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7.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9.svg" Type="http://schemas.openxmlformats.org/officeDocument/2006/relationships/image"/><Relationship Id="rId4" Target="../media/image10.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2.svg" Type="http://schemas.openxmlformats.org/officeDocument/2006/relationships/image"/><Relationship Id="rId4" Target="../media/image13.png" Type="http://schemas.openxmlformats.org/officeDocument/2006/relationships/image"/><Relationship Id="rId5" Target="../media/image14.svg" Type="http://schemas.openxmlformats.org/officeDocument/2006/relationships/image"/><Relationship Id="rId6" Target="../media/image15.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13.png" Type="http://schemas.openxmlformats.org/officeDocument/2006/relationships/image"/><Relationship Id="rId5" Target="../media/image14.svg" Type="http://schemas.openxmlformats.org/officeDocument/2006/relationships/image"/><Relationship Id="rId6" Target="../media/image16.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7.png" Type="http://schemas.openxmlformats.org/officeDocument/2006/relationships/image"/><Relationship Id="rId3" Target="../media/image18.svg" Type="http://schemas.openxmlformats.org/officeDocument/2006/relationships/image"/><Relationship Id="rId4" Target="../media/image19.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2.svg" Type="http://schemas.openxmlformats.org/officeDocument/2006/relationships/image"/><Relationship Id="rId4" Target="../media/image20.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1.png" Type="http://schemas.openxmlformats.org/officeDocument/2006/relationships/image"/><Relationship Id="rId3" Target="../media/image22.svg" Type="http://schemas.openxmlformats.org/officeDocument/2006/relationships/image"/><Relationship Id="rId4" Target="../media/image13.png" Type="http://schemas.openxmlformats.org/officeDocument/2006/relationships/image"/><Relationship Id="rId5" Target="../media/image14.svg" Type="http://schemas.openxmlformats.org/officeDocument/2006/relationships/image"/><Relationship Id="rId6" Target="../media/image23.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4.png" Type="http://schemas.openxmlformats.org/officeDocument/2006/relationships/image"/><Relationship Id="rId3" Target="../media/image25.svg" Type="http://schemas.openxmlformats.org/officeDocument/2006/relationships/image"/><Relationship Id="rId4" Target="../media/image26.jpe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4583730" cy="4583730"/>
          </a:xfrm>
          <a:custGeom>
            <a:avLst/>
            <a:gdLst/>
            <a:ahLst/>
            <a:cxnLst/>
            <a:rect r="r" b="b" t="t" l="l"/>
            <a:pathLst>
              <a:path h="4583730" w="4583730">
                <a:moveTo>
                  <a:pt x="0" y="0"/>
                </a:moveTo>
                <a:lnTo>
                  <a:pt x="4583730" y="0"/>
                </a:lnTo>
                <a:lnTo>
                  <a:pt x="4583730" y="4583730"/>
                </a:lnTo>
                <a:lnTo>
                  <a:pt x="0" y="458373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0">
            <a:off x="13572139" y="5571139"/>
            <a:ext cx="4715861" cy="4715861"/>
          </a:xfrm>
          <a:custGeom>
            <a:avLst/>
            <a:gdLst/>
            <a:ahLst/>
            <a:cxnLst/>
            <a:rect r="r" b="b" t="t" l="l"/>
            <a:pathLst>
              <a:path h="4715861" w="4715861">
                <a:moveTo>
                  <a:pt x="4715861" y="4715861"/>
                </a:moveTo>
                <a:lnTo>
                  <a:pt x="0" y="4715861"/>
                </a:lnTo>
                <a:lnTo>
                  <a:pt x="0" y="0"/>
                </a:lnTo>
                <a:lnTo>
                  <a:pt x="4715861" y="0"/>
                </a:lnTo>
                <a:lnTo>
                  <a:pt x="4715861" y="4715861"/>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true" rot="0">
            <a:off x="0" y="7642577"/>
            <a:ext cx="2644423" cy="2644423"/>
          </a:xfrm>
          <a:custGeom>
            <a:avLst/>
            <a:gdLst/>
            <a:ahLst/>
            <a:cxnLst/>
            <a:rect r="r" b="b" t="t" l="l"/>
            <a:pathLst>
              <a:path h="2644423" w="2644423">
                <a:moveTo>
                  <a:pt x="0" y="2644423"/>
                </a:moveTo>
                <a:lnTo>
                  <a:pt x="2644423" y="2644423"/>
                </a:lnTo>
                <a:lnTo>
                  <a:pt x="2644423" y="0"/>
                </a:lnTo>
                <a:lnTo>
                  <a:pt x="0" y="0"/>
                </a:lnTo>
                <a:lnTo>
                  <a:pt x="0" y="2644423"/>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false" rot="0">
            <a:off x="15814792" y="0"/>
            <a:ext cx="2473208" cy="2473208"/>
          </a:xfrm>
          <a:custGeom>
            <a:avLst/>
            <a:gdLst/>
            <a:ahLst/>
            <a:cxnLst/>
            <a:rect r="r" b="b" t="t" l="l"/>
            <a:pathLst>
              <a:path h="2473208" w="2473208">
                <a:moveTo>
                  <a:pt x="2473208" y="0"/>
                </a:moveTo>
                <a:lnTo>
                  <a:pt x="0" y="0"/>
                </a:lnTo>
                <a:lnTo>
                  <a:pt x="0" y="2473208"/>
                </a:lnTo>
                <a:lnTo>
                  <a:pt x="2473208" y="2473208"/>
                </a:lnTo>
                <a:lnTo>
                  <a:pt x="2473208"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6" id="6"/>
          <p:cNvSpPr txBox="true"/>
          <p:nvPr/>
        </p:nvSpPr>
        <p:spPr>
          <a:xfrm rot="0">
            <a:off x="4767624" y="2571750"/>
            <a:ext cx="8752752" cy="2571750"/>
          </a:xfrm>
          <a:prstGeom prst="rect">
            <a:avLst/>
          </a:prstGeom>
        </p:spPr>
        <p:txBody>
          <a:bodyPr anchor="t" rtlCol="false" tIns="0" lIns="0" bIns="0" rIns="0">
            <a:spAutoFit/>
          </a:bodyPr>
          <a:lstStyle/>
          <a:p>
            <a:pPr algn="ctr">
              <a:lnSpc>
                <a:spcPts val="21000"/>
              </a:lnSpc>
            </a:pPr>
            <a:r>
              <a:rPr lang="en-US" b="true" sz="15000">
                <a:solidFill>
                  <a:srgbClr val="1E1E1E"/>
                </a:solidFill>
                <a:latin typeface="Montserrat Bold"/>
                <a:ea typeface="Montserrat Bold"/>
                <a:cs typeface="Montserrat Bold"/>
                <a:sym typeface="Montserrat Bold"/>
              </a:rPr>
              <a:t>GROUP</a:t>
            </a:r>
          </a:p>
        </p:txBody>
      </p:sp>
      <p:sp>
        <p:nvSpPr>
          <p:cNvPr name="TextBox 7" id="7"/>
          <p:cNvSpPr txBox="true"/>
          <p:nvPr/>
        </p:nvSpPr>
        <p:spPr>
          <a:xfrm rot="0">
            <a:off x="4382970" y="4297980"/>
            <a:ext cx="9522059" cy="2571750"/>
          </a:xfrm>
          <a:prstGeom prst="rect">
            <a:avLst/>
          </a:prstGeom>
        </p:spPr>
        <p:txBody>
          <a:bodyPr anchor="t" rtlCol="false" tIns="0" lIns="0" bIns="0" rIns="0">
            <a:spAutoFit/>
          </a:bodyPr>
          <a:lstStyle/>
          <a:p>
            <a:pPr algn="ctr">
              <a:lnSpc>
                <a:spcPts val="21000"/>
              </a:lnSpc>
            </a:pPr>
            <a:r>
              <a:rPr lang="en-US" b="true" sz="15000">
                <a:solidFill>
                  <a:srgbClr val="1E1E1E"/>
                </a:solidFill>
                <a:latin typeface="Montserrat Bold"/>
                <a:ea typeface="Montserrat Bold"/>
                <a:cs typeface="Montserrat Bold"/>
                <a:sym typeface="Montserrat Bold"/>
              </a:rPr>
              <a:t>PROJECT</a:t>
            </a:r>
          </a:p>
        </p:txBody>
      </p:sp>
      <p:sp>
        <p:nvSpPr>
          <p:cNvPr name="TextBox 8" id="8"/>
          <p:cNvSpPr txBox="true"/>
          <p:nvPr/>
        </p:nvSpPr>
        <p:spPr>
          <a:xfrm rot="0">
            <a:off x="6187104" y="6979748"/>
            <a:ext cx="5913792" cy="2165350"/>
          </a:xfrm>
          <a:prstGeom prst="rect">
            <a:avLst/>
          </a:prstGeom>
        </p:spPr>
        <p:txBody>
          <a:bodyPr anchor="t" rtlCol="false" tIns="0" lIns="0" bIns="0" rIns="0">
            <a:spAutoFit/>
          </a:bodyPr>
          <a:lstStyle/>
          <a:p>
            <a:pPr algn="ctr">
              <a:lnSpc>
                <a:spcPts val="3499"/>
              </a:lnSpc>
            </a:pPr>
            <a:r>
              <a:rPr lang="en-US" b="true" sz="2499">
                <a:solidFill>
                  <a:srgbClr val="1E1E1E"/>
                </a:solidFill>
                <a:latin typeface="Inter Semi-Bold"/>
                <a:ea typeface="Inter Semi-Bold"/>
                <a:cs typeface="Inter Semi-Bold"/>
                <a:sym typeface="Inter Semi-Bold"/>
              </a:rPr>
              <a:t>Presented by </a:t>
            </a:r>
          </a:p>
          <a:p>
            <a:pPr algn="ctr">
              <a:lnSpc>
                <a:spcPts val="3499"/>
              </a:lnSpc>
            </a:pPr>
            <a:r>
              <a:rPr lang="en-US" b="true" sz="2499">
                <a:solidFill>
                  <a:srgbClr val="1E1E1E"/>
                </a:solidFill>
                <a:latin typeface="Inter Semi-Bold"/>
                <a:ea typeface="Inter Semi-Bold"/>
                <a:cs typeface="Inter Semi-Bold"/>
                <a:sym typeface="Inter Semi-Bold"/>
              </a:rPr>
              <a:t>BARANIKA</a:t>
            </a:r>
          </a:p>
          <a:p>
            <a:pPr algn="ctr">
              <a:lnSpc>
                <a:spcPts val="3499"/>
              </a:lnSpc>
            </a:pPr>
            <a:r>
              <a:rPr lang="en-US" b="true" sz="2499">
                <a:solidFill>
                  <a:srgbClr val="1E1E1E"/>
                </a:solidFill>
                <a:latin typeface="Inter Semi-Bold"/>
                <a:ea typeface="Inter Semi-Bold"/>
                <a:cs typeface="Inter Semi-Bold"/>
                <a:sym typeface="Inter Semi-Bold"/>
              </a:rPr>
              <a:t>GIRIJA SHREE</a:t>
            </a:r>
          </a:p>
          <a:p>
            <a:pPr algn="ctr">
              <a:lnSpc>
                <a:spcPts val="3499"/>
              </a:lnSpc>
            </a:pPr>
            <a:r>
              <a:rPr lang="en-US" b="true" sz="2499">
                <a:solidFill>
                  <a:srgbClr val="1E1E1E"/>
                </a:solidFill>
                <a:latin typeface="Inter Semi-Bold"/>
                <a:ea typeface="Inter Semi-Bold"/>
                <a:cs typeface="Inter Semi-Bold"/>
                <a:sym typeface="Inter Semi-Bold"/>
              </a:rPr>
              <a:t>JASMITHA</a:t>
            </a:r>
          </a:p>
          <a:p>
            <a:pPr algn="ctr">
              <a:lnSpc>
                <a:spcPts val="3499"/>
              </a:lnSpc>
              <a:spcBef>
                <a:spcPct val="0"/>
              </a:spcBef>
            </a:pPr>
            <a:r>
              <a:rPr lang="en-US" b="true" sz="2499">
                <a:solidFill>
                  <a:srgbClr val="1E1E1E"/>
                </a:solidFill>
                <a:latin typeface="Inter Semi-Bold"/>
                <a:ea typeface="Inter Semi-Bold"/>
                <a:cs typeface="Inter Semi-Bold"/>
                <a:sym typeface="Inter Semi-Bold"/>
              </a:rPr>
              <a:t>KAJASRI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true" flipV="false" rot="0">
            <a:off x="14943668" y="0"/>
            <a:ext cx="3344332" cy="3344332"/>
          </a:xfrm>
          <a:custGeom>
            <a:avLst/>
            <a:gdLst/>
            <a:ahLst/>
            <a:cxnLst/>
            <a:rect r="r" b="b" t="t" l="l"/>
            <a:pathLst>
              <a:path h="3344332" w="3344332">
                <a:moveTo>
                  <a:pt x="3344332" y="0"/>
                </a:moveTo>
                <a:lnTo>
                  <a:pt x="0" y="0"/>
                </a:lnTo>
                <a:lnTo>
                  <a:pt x="0" y="3344332"/>
                </a:lnTo>
                <a:lnTo>
                  <a:pt x="3344332" y="3344332"/>
                </a:lnTo>
                <a:lnTo>
                  <a:pt x="3344332"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true" rot="0">
            <a:off x="0" y="6942668"/>
            <a:ext cx="3344332" cy="3344332"/>
          </a:xfrm>
          <a:custGeom>
            <a:avLst/>
            <a:gdLst/>
            <a:ahLst/>
            <a:cxnLst/>
            <a:rect r="r" b="b" t="t" l="l"/>
            <a:pathLst>
              <a:path h="3344332" w="3344332">
                <a:moveTo>
                  <a:pt x="0" y="3344332"/>
                </a:moveTo>
                <a:lnTo>
                  <a:pt x="3344332" y="3344332"/>
                </a:lnTo>
                <a:lnTo>
                  <a:pt x="3344332" y="0"/>
                </a:lnTo>
                <a:lnTo>
                  <a:pt x="0" y="0"/>
                </a:lnTo>
                <a:lnTo>
                  <a:pt x="0" y="3344332"/>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1216005" y="3344332"/>
            <a:ext cx="4628043" cy="5621889"/>
            <a:chOff x="0" y="0"/>
            <a:chExt cx="5181854" cy="6294628"/>
          </a:xfrm>
        </p:grpSpPr>
        <p:sp>
          <p:nvSpPr>
            <p:cNvPr name="Freeform 5" id="5"/>
            <p:cNvSpPr/>
            <p:nvPr/>
          </p:nvSpPr>
          <p:spPr>
            <a:xfrm flipH="false" flipV="false" rot="0">
              <a:off x="38" y="-70"/>
              <a:ext cx="5181943" cy="6294824"/>
            </a:xfrm>
            <a:custGeom>
              <a:avLst/>
              <a:gdLst/>
              <a:ahLst/>
              <a:cxnLst/>
              <a:rect r="r" b="b" t="t" l="l"/>
              <a:pathLst>
                <a:path h="6294824" w="5181943">
                  <a:moveTo>
                    <a:pt x="5181689" y="911422"/>
                  </a:moveTo>
                  <a:cubicBezTo>
                    <a:pt x="5181689" y="750767"/>
                    <a:pt x="5053292" y="591255"/>
                    <a:pt x="4896320" y="557092"/>
                  </a:cubicBezTo>
                  <a:lnTo>
                    <a:pt x="2373211" y="6928"/>
                  </a:lnTo>
                  <a:cubicBezTo>
                    <a:pt x="2216239" y="-27362"/>
                    <a:pt x="2045297" y="69031"/>
                    <a:pt x="1993481" y="221177"/>
                  </a:cubicBezTo>
                  <a:lnTo>
                    <a:pt x="14821" y="6018346"/>
                  </a:lnTo>
                  <a:cubicBezTo>
                    <a:pt x="-37122" y="6170365"/>
                    <a:pt x="51905" y="6294825"/>
                    <a:pt x="212560" y="6294825"/>
                  </a:cubicBezTo>
                  <a:lnTo>
                    <a:pt x="4889843" y="6294825"/>
                  </a:lnTo>
                  <a:cubicBezTo>
                    <a:pt x="5050498" y="6294825"/>
                    <a:pt x="5181943" y="6163380"/>
                    <a:pt x="5181943" y="6002725"/>
                  </a:cubicBezTo>
                  <a:lnTo>
                    <a:pt x="5181689" y="911422"/>
                  </a:lnTo>
                  <a:close/>
                </a:path>
              </a:pathLst>
            </a:custGeom>
            <a:blipFill>
              <a:blip r:embed="rId4"/>
              <a:stretch>
                <a:fillRect l="-41024" t="0" r="-41024" b="0"/>
              </a:stretch>
            </a:blipFill>
          </p:spPr>
        </p:sp>
      </p:grpSp>
      <p:sp>
        <p:nvSpPr>
          <p:cNvPr name="TextBox 6" id="6"/>
          <p:cNvSpPr txBox="true"/>
          <p:nvPr/>
        </p:nvSpPr>
        <p:spPr>
          <a:xfrm rot="0">
            <a:off x="2325043" y="809625"/>
            <a:ext cx="12001081" cy="1892300"/>
          </a:xfrm>
          <a:prstGeom prst="rect">
            <a:avLst/>
          </a:prstGeom>
        </p:spPr>
        <p:txBody>
          <a:bodyPr anchor="t" rtlCol="false" tIns="0" lIns="0" bIns="0" rIns="0">
            <a:spAutoFit/>
          </a:bodyPr>
          <a:lstStyle/>
          <a:p>
            <a:pPr algn="ctr">
              <a:lnSpc>
                <a:spcPts val="15400"/>
              </a:lnSpc>
            </a:pPr>
            <a:r>
              <a:rPr lang="en-US" b="true" sz="11000">
                <a:solidFill>
                  <a:srgbClr val="1E1E1E"/>
                </a:solidFill>
                <a:latin typeface="Montserrat Bold"/>
                <a:ea typeface="Montserrat Bold"/>
                <a:cs typeface="Montserrat Bold"/>
                <a:sym typeface="Montserrat Bold"/>
              </a:rPr>
              <a:t>INTRODUCTION</a:t>
            </a:r>
          </a:p>
        </p:txBody>
      </p:sp>
      <p:sp>
        <p:nvSpPr>
          <p:cNvPr name="TextBox 7" id="7"/>
          <p:cNvSpPr txBox="true"/>
          <p:nvPr/>
        </p:nvSpPr>
        <p:spPr>
          <a:xfrm rot="0">
            <a:off x="2454985" y="5304376"/>
            <a:ext cx="7302818" cy="850900"/>
          </a:xfrm>
          <a:prstGeom prst="rect">
            <a:avLst/>
          </a:prstGeom>
        </p:spPr>
        <p:txBody>
          <a:bodyPr anchor="t" rtlCol="false" tIns="0" lIns="0" bIns="0" rIns="0">
            <a:spAutoFit/>
          </a:bodyPr>
          <a:lstStyle/>
          <a:p>
            <a:pPr algn="ctr">
              <a:lnSpc>
                <a:spcPts val="3499"/>
              </a:lnSpc>
            </a:pPr>
            <a:r>
              <a:rPr lang="en-US" sz="2499" b="true">
                <a:solidFill>
                  <a:srgbClr val="1E1E1E"/>
                </a:solidFill>
                <a:latin typeface="Inter Bold"/>
                <a:ea typeface="Inter Bold"/>
                <a:cs typeface="Inter Bold"/>
                <a:sym typeface="Inter Bold"/>
              </a:rPr>
              <a:t>STUDENTS PERFORMANCE ANALYSIS SYSTEM</a:t>
            </a:r>
          </a:p>
          <a:p>
            <a:pPr algn="ctr">
              <a:lnSpc>
                <a:spcPts val="3499"/>
              </a:lnSpc>
              <a:spcBef>
                <a:spcPct val="0"/>
              </a:spcBef>
            </a:pPr>
          </a:p>
        </p:txBody>
      </p:sp>
      <p:sp>
        <p:nvSpPr>
          <p:cNvPr name="TextBox 8" id="8"/>
          <p:cNvSpPr txBox="true"/>
          <p:nvPr/>
        </p:nvSpPr>
        <p:spPr>
          <a:xfrm rot="0">
            <a:off x="2018678" y="6724037"/>
            <a:ext cx="8553919" cy="2212784"/>
          </a:xfrm>
          <a:prstGeom prst="rect">
            <a:avLst/>
          </a:prstGeom>
        </p:spPr>
        <p:txBody>
          <a:bodyPr anchor="t" rtlCol="false" tIns="0" lIns="0" bIns="0" rIns="0">
            <a:spAutoFit/>
          </a:bodyPr>
          <a:lstStyle/>
          <a:p>
            <a:pPr algn="l">
              <a:lnSpc>
                <a:spcPts val="2985"/>
              </a:lnSpc>
            </a:pPr>
            <a:r>
              <a:rPr lang="en-US" sz="2132">
                <a:solidFill>
                  <a:srgbClr val="1E1E1E"/>
                </a:solidFill>
                <a:latin typeface="Canva Sans"/>
                <a:ea typeface="Canva Sans"/>
                <a:cs typeface="Canva Sans"/>
                <a:sym typeface="Canva Sans"/>
              </a:rPr>
              <a:t>A Students Performance Analysis System is a system designed to monitor and analyze students’ academic performance. It helps teachers and institutions understand students’ strengths, weaknesses, attendance, marks, and overall progress. By using performance data, better academic support and timely improvement can be provided.</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6873550"/>
            <a:ext cx="3413450" cy="3413450"/>
          </a:xfrm>
          <a:custGeom>
            <a:avLst/>
            <a:gdLst/>
            <a:ahLst/>
            <a:cxnLst/>
            <a:rect r="r" b="b" t="t" l="l"/>
            <a:pathLst>
              <a:path h="3413450" w="3413450">
                <a:moveTo>
                  <a:pt x="0" y="0"/>
                </a:moveTo>
                <a:lnTo>
                  <a:pt x="3413450" y="0"/>
                </a:lnTo>
                <a:lnTo>
                  <a:pt x="3413450" y="3413450"/>
                </a:lnTo>
                <a:lnTo>
                  <a:pt x="0" y="341345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0">
            <a:off x="14874550" y="0"/>
            <a:ext cx="3413450" cy="3413450"/>
          </a:xfrm>
          <a:custGeom>
            <a:avLst/>
            <a:gdLst/>
            <a:ahLst/>
            <a:cxnLst/>
            <a:rect r="r" b="b" t="t" l="l"/>
            <a:pathLst>
              <a:path h="3413450" w="3413450">
                <a:moveTo>
                  <a:pt x="3413450" y="3413450"/>
                </a:moveTo>
                <a:lnTo>
                  <a:pt x="0" y="3413450"/>
                </a:lnTo>
                <a:lnTo>
                  <a:pt x="0" y="0"/>
                </a:lnTo>
                <a:lnTo>
                  <a:pt x="3413450" y="0"/>
                </a:lnTo>
                <a:lnTo>
                  <a:pt x="3413450" y="341345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2931295" y="2892096"/>
            <a:ext cx="4328005" cy="6024187"/>
            <a:chOff x="0" y="0"/>
            <a:chExt cx="4522118" cy="6294374"/>
          </a:xfrm>
        </p:grpSpPr>
        <p:sp>
          <p:nvSpPr>
            <p:cNvPr name="Freeform 5" id="5"/>
            <p:cNvSpPr/>
            <p:nvPr/>
          </p:nvSpPr>
          <p:spPr>
            <a:xfrm flipH="false" flipV="false" rot="0">
              <a:off x="0" y="-44"/>
              <a:ext cx="4522040" cy="6294291"/>
            </a:xfrm>
            <a:custGeom>
              <a:avLst/>
              <a:gdLst/>
              <a:ahLst/>
              <a:cxnLst/>
              <a:rect r="r" b="b" t="t" l="l"/>
              <a:pathLst>
                <a:path h="6294291" w="4522040">
                  <a:moveTo>
                    <a:pt x="4301392" y="726865"/>
                  </a:moveTo>
                  <a:cubicBezTo>
                    <a:pt x="4458364" y="761028"/>
                    <a:pt x="4553360" y="916095"/>
                    <a:pt x="4512593" y="1071543"/>
                  </a:cubicBezTo>
                  <a:lnTo>
                    <a:pt x="3214526" y="6011843"/>
                  </a:lnTo>
                  <a:cubicBezTo>
                    <a:pt x="3173759" y="6167164"/>
                    <a:pt x="3008913" y="6294291"/>
                    <a:pt x="2848258" y="6294291"/>
                  </a:cubicBezTo>
                  <a:lnTo>
                    <a:pt x="292100" y="6294291"/>
                  </a:lnTo>
                  <a:cubicBezTo>
                    <a:pt x="131445" y="6294291"/>
                    <a:pt x="0" y="6162846"/>
                    <a:pt x="0" y="6002191"/>
                  </a:cubicBezTo>
                  <a:lnTo>
                    <a:pt x="0" y="236391"/>
                  </a:lnTo>
                  <a:cubicBezTo>
                    <a:pt x="0" y="75863"/>
                    <a:pt x="128397" y="-27642"/>
                    <a:pt x="285369" y="6521"/>
                  </a:cubicBezTo>
                  <a:lnTo>
                    <a:pt x="4301392" y="726865"/>
                  </a:lnTo>
                  <a:close/>
                </a:path>
              </a:pathLst>
            </a:custGeom>
            <a:blipFill>
              <a:blip r:embed="rId4"/>
              <a:stretch>
                <a:fillRect l="-22836" t="0" r="-85764" b="0"/>
              </a:stretch>
            </a:blipFill>
          </p:spPr>
        </p:sp>
      </p:grpSp>
      <p:sp>
        <p:nvSpPr>
          <p:cNvPr name="TextBox 6" id="6"/>
          <p:cNvSpPr txBox="true"/>
          <p:nvPr/>
        </p:nvSpPr>
        <p:spPr>
          <a:xfrm rot="0">
            <a:off x="2169187" y="809625"/>
            <a:ext cx="12001081" cy="1892300"/>
          </a:xfrm>
          <a:prstGeom prst="rect">
            <a:avLst/>
          </a:prstGeom>
        </p:spPr>
        <p:txBody>
          <a:bodyPr anchor="t" rtlCol="false" tIns="0" lIns="0" bIns="0" rIns="0">
            <a:spAutoFit/>
          </a:bodyPr>
          <a:lstStyle/>
          <a:p>
            <a:pPr algn="l">
              <a:lnSpc>
                <a:spcPts val="15400"/>
              </a:lnSpc>
            </a:pPr>
            <a:r>
              <a:rPr lang="en-US" sz="11000" b="true">
                <a:solidFill>
                  <a:srgbClr val="1E1E1E"/>
                </a:solidFill>
                <a:latin typeface="Montserrat Bold"/>
                <a:ea typeface="Montserrat Bold"/>
                <a:cs typeface="Montserrat Bold"/>
                <a:sym typeface="Montserrat Bold"/>
              </a:rPr>
              <a:t>BACKGROUND</a:t>
            </a:r>
          </a:p>
        </p:txBody>
      </p:sp>
      <p:sp>
        <p:nvSpPr>
          <p:cNvPr name="TextBox 7" id="7"/>
          <p:cNvSpPr txBox="true"/>
          <p:nvPr/>
        </p:nvSpPr>
        <p:spPr>
          <a:xfrm rot="0">
            <a:off x="2009923" y="5856564"/>
            <a:ext cx="10147112" cy="3265399"/>
          </a:xfrm>
          <a:prstGeom prst="rect">
            <a:avLst/>
          </a:prstGeom>
        </p:spPr>
        <p:txBody>
          <a:bodyPr anchor="t" rtlCol="false" tIns="0" lIns="0" bIns="0" rIns="0">
            <a:spAutoFit/>
          </a:bodyPr>
          <a:lstStyle/>
          <a:p>
            <a:pPr algn="l">
              <a:lnSpc>
                <a:spcPts val="3242"/>
              </a:lnSpc>
            </a:pPr>
            <a:r>
              <a:rPr lang="en-US" sz="2315">
                <a:solidFill>
                  <a:srgbClr val="1E1E1E"/>
                </a:solidFill>
                <a:latin typeface="Canva Sans"/>
                <a:ea typeface="Canva Sans"/>
                <a:cs typeface="Canva Sans"/>
                <a:sym typeface="Canva Sans"/>
              </a:rPr>
              <a:t>Student performance is influenced by various factors such as attendance, examination marks, assignments, participation, and learning habits. Traditional methods of analyzing these factors manually can be time-consuming and may not provide a complete picture of a student’s progress. A performance analysis system helps organize this information and provides useful insights for teachers and students.</a:t>
            </a:r>
          </a:p>
          <a:p>
            <a:pPr algn="l">
              <a:lnSpc>
                <a:spcPts val="3242"/>
              </a:lnSpc>
            </a:pP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3495833" cy="3495833"/>
          </a:xfrm>
          <a:custGeom>
            <a:avLst/>
            <a:gdLst/>
            <a:ahLst/>
            <a:cxnLst/>
            <a:rect r="r" b="b" t="t" l="l"/>
            <a:pathLst>
              <a:path h="3495833" w="3495833">
                <a:moveTo>
                  <a:pt x="0" y="0"/>
                </a:moveTo>
                <a:lnTo>
                  <a:pt x="3495833" y="0"/>
                </a:lnTo>
                <a:lnTo>
                  <a:pt x="3495833" y="3495833"/>
                </a:lnTo>
                <a:lnTo>
                  <a:pt x="0" y="349583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0">
            <a:off x="14792167" y="6791167"/>
            <a:ext cx="3495833" cy="3495833"/>
          </a:xfrm>
          <a:custGeom>
            <a:avLst/>
            <a:gdLst/>
            <a:ahLst/>
            <a:cxnLst/>
            <a:rect r="r" b="b" t="t" l="l"/>
            <a:pathLst>
              <a:path h="3495833" w="3495833">
                <a:moveTo>
                  <a:pt x="3495833" y="3495833"/>
                </a:moveTo>
                <a:lnTo>
                  <a:pt x="0" y="3495833"/>
                </a:lnTo>
                <a:lnTo>
                  <a:pt x="0" y="0"/>
                </a:lnTo>
                <a:lnTo>
                  <a:pt x="3495833" y="0"/>
                </a:lnTo>
                <a:lnTo>
                  <a:pt x="3495833" y="3495833"/>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6960378" y="5143500"/>
            <a:ext cx="873589" cy="890412"/>
          </a:xfrm>
          <a:custGeom>
            <a:avLst/>
            <a:gdLst/>
            <a:ahLst/>
            <a:cxnLst/>
            <a:rect r="r" b="b" t="t" l="l"/>
            <a:pathLst>
              <a:path h="890412" w="873589">
                <a:moveTo>
                  <a:pt x="0" y="0"/>
                </a:moveTo>
                <a:lnTo>
                  <a:pt x="873589" y="0"/>
                </a:lnTo>
                <a:lnTo>
                  <a:pt x="873589" y="890412"/>
                </a:lnTo>
                <a:lnTo>
                  <a:pt x="0" y="89041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6960378" y="6345961"/>
            <a:ext cx="873589" cy="890412"/>
          </a:xfrm>
          <a:custGeom>
            <a:avLst/>
            <a:gdLst/>
            <a:ahLst/>
            <a:cxnLst/>
            <a:rect r="r" b="b" t="t" l="l"/>
            <a:pathLst>
              <a:path h="890412" w="873589">
                <a:moveTo>
                  <a:pt x="0" y="0"/>
                </a:moveTo>
                <a:lnTo>
                  <a:pt x="873589" y="0"/>
                </a:lnTo>
                <a:lnTo>
                  <a:pt x="873589" y="890412"/>
                </a:lnTo>
                <a:lnTo>
                  <a:pt x="0" y="89041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6960378" y="7550698"/>
            <a:ext cx="873589" cy="890412"/>
          </a:xfrm>
          <a:custGeom>
            <a:avLst/>
            <a:gdLst/>
            <a:ahLst/>
            <a:cxnLst/>
            <a:rect r="r" b="b" t="t" l="l"/>
            <a:pathLst>
              <a:path h="890412" w="873589">
                <a:moveTo>
                  <a:pt x="0" y="0"/>
                </a:moveTo>
                <a:lnTo>
                  <a:pt x="873589" y="0"/>
                </a:lnTo>
                <a:lnTo>
                  <a:pt x="873589" y="890412"/>
                </a:lnTo>
                <a:lnTo>
                  <a:pt x="0" y="89041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7" id="7"/>
          <p:cNvGrpSpPr/>
          <p:nvPr/>
        </p:nvGrpSpPr>
        <p:grpSpPr>
          <a:xfrm rot="0">
            <a:off x="2096793" y="2584800"/>
            <a:ext cx="4067563" cy="6898225"/>
            <a:chOff x="0" y="0"/>
            <a:chExt cx="3711575" cy="6294501"/>
          </a:xfrm>
        </p:grpSpPr>
        <p:sp>
          <p:nvSpPr>
            <p:cNvPr name="Freeform 8" id="8"/>
            <p:cNvSpPr/>
            <p:nvPr/>
          </p:nvSpPr>
          <p:spPr>
            <a:xfrm flipH="false" flipV="false" rot="0">
              <a:off x="0" y="0"/>
              <a:ext cx="3711648" cy="6294530"/>
            </a:xfrm>
            <a:custGeom>
              <a:avLst/>
              <a:gdLst/>
              <a:ahLst/>
              <a:cxnLst/>
              <a:rect r="r" b="b" t="t" l="l"/>
              <a:pathLst>
                <a:path h="6294530" w="3711648">
                  <a:moveTo>
                    <a:pt x="3475101" y="6287897"/>
                  </a:moveTo>
                  <a:cubicBezTo>
                    <a:pt x="3632073" y="6322060"/>
                    <a:pt x="3736213" y="6220841"/>
                    <a:pt x="3706622" y="6062980"/>
                  </a:cubicBezTo>
                  <a:lnTo>
                    <a:pt x="2621915" y="287020"/>
                  </a:lnTo>
                  <a:cubicBezTo>
                    <a:pt x="2592324" y="129159"/>
                    <a:pt x="2436622" y="0"/>
                    <a:pt x="2275967" y="0"/>
                  </a:cubicBezTo>
                  <a:lnTo>
                    <a:pt x="292100" y="0"/>
                  </a:lnTo>
                  <a:cubicBezTo>
                    <a:pt x="131445" y="0"/>
                    <a:pt x="0" y="131445"/>
                    <a:pt x="0" y="292100"/>
                  </a:cubicBezTo>
                  <a:lnTo>
                    <a:pt x="127" y="5239004"/>
                  </a:lnTo>
                  <a:cubicBezTo>
                    <a:pt x="127" y="5399659"/>
                    <a:pt x="128524" y="5559044"/>
                    <a:pt x="285496" y="5593207"/>
                  </a:cubicBezTo>
                  <a:lnTo>
                    <a:pt x="3475101" y="6287897"/>
                  </a:lnTo>
                  <a:close/>
                </a:path>
              </a:pathLst>
            </a:custGeom>
            <a:blipFill>
              <a:blip r:embed="rId6"/>
              <a:stretch>
                <a:fillRect l="-122906" t="0" r="-78950" b="0"/>
              </a:stretch>
            </a:blipFill>
          </p:spPr>
        </p:sp>
      </p:grpSp>
      <p:sp>
        <p:nvSpPr>
          <p:cNvPr name="TextBox 9" id="9"/>
          <p:cNvSpPr txBox="true"/>
          <p:nvPr/>
        </p:nvSpPr>
        <p:spPr>
          <a:xfrm rot="0">
            <a:off x="6960378" y="1276350"/>
            <a:ext cx="9153833" cy="2754631"/>
          </a:xfrm>
          <a:prstGeom prst="rect">
            <a:avLst/>
          </a:prstGeom>
        </p:spPr>
        <p:txBody>
          <a:bodyPr anchor="t" rtlCol="false" tIns="0" lIns="0" bIns="0" rIns="0">
            <a:spAutoFit/>
          </a:bodyPr>
          <a:lstStyle/>
          <a:p>
            <a:pPr algn="l">
              <a:lnSpc>
                <a:spcPts val="10560"/>
              </a:lnSpc>
            </a:pPr>
            <a:r>
              <a:rPr lang="en-US" sz="11000" b="true">
                <a:solidFill>
                  <a:srgbClr val="1E1E1E"/>
                </a:solidFill>
                <a:latin typeface="Montserrat Bold"/>
                <a:ea typeface="Montserrat Bold"/>
                <a:cs typeface="Montserrat Bold"/>
                <a:sym typeface="Montserrat Bold"/>
              </a:rPr>
              <a:t>PROBLEM STATEMENT</a:t>
            </a:r>
          </a:p>
        </p:txBody>
      </p:sp>
      <p:sp>
        <p:nvSpPr>
          <p:cNvPr name="TextBox 10" id="10"/>
          <p:cNvSpPr txBox="true"/>
          <p:nvPr/>
        </p:nvSpPr>
        <p:spPr>
          <a:xfrm rot="0">
            <a:off x="7990366" y="5342014"/>
            <a:ext cx="9425333" cy="691898"/>
          </a:xfrm>
          <a:prstGeom prst="rect">
            <a:avLst/>
          </a:prstGeom>
        </p:spPr>
        <p:txBody>
          <a:bodyPr anchor="t" rtlCol="false" tIns="0" lIns="0" bIns="0" rIns="0">
            <a:spAutoFit/>
          </a:bodyPr>
          <a:lstStyle/>
          <a:p>
            <a:pPr algn="ctr">
              <a:lnSpc>
                <a:spcPts val="2750"/>
              </a:lnSpc>
            </a:pPr>
            <a:r>
              <a:rPr lang="en-US" sz="1964" b="true">
                <a:solidFill>
                  <a:srgbClr val="1E1E1E"/>
                </a:solidFill>
                <a:latin typeface="Canva Sans Bold"/>
                <a:ea typeface="Canva Sans Bold"/>
                <a:cs typeface="Canva Sans Bold"/>
                <a:sym typeface="Canva Sans Bold"/>
              </a:rPr>
              <a:t>Difficulty in tracking and analyzing individual student performance regularly.</a:t>
            </a:r>
          </a:p>
          <a:p>
            <a:pPr algn="ctr">
              <a:lnSpc>
                <a:spcPts val="2750"/>
              </a:lnSpc>
            </a:pPr>
          </a:p>
        </p:txBody>
      </p:sp>
      <p:sp>
        <p:nvSpPr>
          <p:cNvPr name="TextBox 11" id="11"/>
          <p:cNvSpPr txBox="true"/>
          <p:nvPr/>
        </p:nvSpPr>
        <p:spPr>
          <a:xfrm rot="0">
            <a:off x="7397173" y="6660148"/>
            <a:ext cx="10245016" cy="600614"/>
          </a:xfrm>
          <a:prstGeom prst="rect">
            <a:avLst/>
          </a:prstGeom>
        </p:spPr>
        <p:txBody>
          <a:bodyPr anchor="t" rtlCol="false" tIns="0" lIns="0" bIns="0" rIns="0">
            <a:spAutoFit/>
          </a:bodyPr>
          <a:lstStyle/>
          <a:p>
            <a:pPr algn="ctr">
              <a:lnSpc>
                <a:spcPts val="2469"/>
              </a:lnSpc>
            </a:pPr>
            <a:r>
              <a:rPr lang="en-US" sz="1764" b="true">
                <a:solidFill>
                  <a:srgbClr val="1E1E1E"/>
                </a:solidFill>
                <a:latin typeface="Canva Sans Bold"/>
                <a:ea typeface="Canva Sans Bold"/>
                <a:cs typeface="Canva Sans Bold"/>
                <a:sym typeface="Canva Sans Bold"/>
              </a:rPr>
              <a:t>Manual analysis of marks and attendance is time-consuming and may lead to errors.</a:t>
            </a:r>
          </a:p>
          <a:p>
            <a:pPr algn="ctr">
              <a:lnSpc>
                <a:spcPts val="2469"/>
              </a:lnSpc>
            </a:pPr>
          </a:p>
        </p:txBody>
      </p:sp>
      <p:sp>
        <p:nvSpPr>
          <p:cNvPr name="TextBox 12" id="12"/>
          <p:cNvSpPr txBox="true"/>
          <p:nvPr/>
        </p:nvSpPr>
        <p:spPr>
          <a:xfrm rot="0">
            <a:off x="7923759" y="7851921"/>
            <a:ext cx="9252466" cy="684109"/>
          </a:xfrm>
          <a:prstGeom prst="rect">
            <a:avLst/>
          </a:prstGeom>
        </p:spPr>
        <p:txBody>
          <a:bodyPr anchor="t" rtlCol="false" tIns="0" lIns="0" bIns="0" rIns="0">
            <a:spAutoFit/>
          </a:bodyPr>
          <a:lstStyle/>
          <a:p>
            <a:pPr algn="ctr">
              <a:lnSpc>
                <a:spcPts val="2718"/>
              </a:lnSpc>
            </a:pPr>
            <a:r>
              <a:rPr lang="en-US" sz="1941" b="true">
                <a:solidFill>
                  <a:srgbClr val="1E1E1E"/>
                </a:solidFill>
                <a:latin typeface="Canva Sans Bold"/>
                <a:ea typeface="Canva Sans Bold"/>
                <a:cs typeface="Canva Sans Bold"/>
                <a:sym typeface="Canva Sans Bold"/>
              </a:rPr>
              <a:t>Early identification of students who need academic support is often difficult.</a:t>
            </a:r>
          </a:p>
          <a:p>
            <a:pPr algn="ctr">
              <a:lnSpc>
                <a:spcPts val="2718"/>
              </a:lnSpc>
            </a:pP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3536779" cy="3536779"/>
          </a:xfrm>
          <a:custGeom>
            <a:avLst/>
            <a:gdLst/>
            <a:ahLst/>
            <a:cxnLst/>
            <a:rect r="r" b="b" t="t" l="l"/>
            <a:pathLst>
              <a:path h="3536779" w="3536779">
                <a:moveTo>
                  <a:pt x="0" y="0"/>
                </a:moveTo>
                <a:lnTo>
                  <a:pt x="3536779" y="0"/>
                </a:lnTo>
                <a:lnTo>
                  <a:pt x="3536779" y="3536779"/>
                </a:lnTo>
                <a:lnTo>
                  <a:pt x="0" y="353677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0">
            <a:off x="14751221" y="6750221"/>
            <a:ext cx="3536779" cy="3536779"/>
          </a:xfrm>
          <a:custGeom>
            <a:avLst/>
            <a:gdLst/>
            <a:ahLst/>
            <a:cxnLst/>
            <a:rect r="r" b="b" t="t" l="l"/>
            <a:pathLst>
              <a:path h="3536779" w="3536779">
                <a:moveTo>
                  <a:pt x="3536779" y="3536779"/>
                </a:moveTo>
                <a:lnTo>
                  <a:pt x="0" y="3536779"/>
                </a:lnTo>
                <a:lnTo>
                  <a:pt x="0" y="0"/>
                </a:lnTo>
                <a:lnTo>
                  <a:pt x="3536779" y="0"/>
                </a:lnTo>
                <a:lnTo>
                  <a:pt x="3536779" y="3536779"/>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6353888" y="5751775"/>
            <a:ext cx="873589" cy="890412"/>
          </a:xfrm>
          <a:custGeom>
            <a:avLst/>
            <a:gdLst/>
            <a:ahLst/>
            <a:cxnLst/>
            <a:rect r="r" b="b" t="t" l="l"/>
            <a:pathLst>
              <a:path h="890412" w="873589">
                <a:moveTo>
                  <a:pt x="0" y="0"/>
                </a:moveTo>
                <a:lnTo>
                  <a:pt x="873589" y="0"/>
                </a:lnTo>
                <a:lnTo>
                  <a:pt x="873589" y="890412"/>
                </a:lnTo>
                <a:lnTo>
                  <a:pt x="0" y="89041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6353888" y="6954236"/>
            <a:ext cx="873589" cy="890412"/>
          </a:xfrm>
          <a:custGeom>
            <a:avLst/>
            <a:gdLst/>
            <a:ahLst/>
            <a:cxnLst/>
            <a:rect r="r" b="b" t="t" l="l"/>
            <a:pathLst>
              <a:path h="890412" w="873589">
                <a:moveTo>
                  <a:pt x="0" y="0"/>
                </a:moveTo>
                <a:lnTo>
                  <a:pt x="873589" y="0"/>
                </a:lnTo>
                <a:lnTo>
                  <a:pt x="873589" y="890412"/>
                </a:lnTo>
                <a:lnTo>
                  <a:pt x="0" y="89041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6353888" y="8158973"/>
            <a:ext cx="873589" cy="890412"/>
          </a:xfrm>
          <a:custGeom>
            <a:avLst/>
            <a:gdLst/>
            <a:ahLst/>
            <a:cxnLst/>
            <a:rect r="r" b="b" t="t" l="l"/>
            <a:pathLst>
              <a:path h="890412" w="873589">
                <a:moveTo>
                  <a:pt x="0" y="0"/>
                </a:moveTo>
                <a:lnTo>
                  <a:pt x="873589" y="0"/>
                </a:lnTo>
                <a:lnTo>
                  <a:pt x="873589" y="890412"/>
                </a:lnTo>
                <a:lnTo>
                  <a:pt x="0" y="89041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7" id="7"/>
          <p:cNvGrpSpPr/>
          <p:nvPr/>
        </p:nvGrpSpPr>
        <p:grpSpPr>
          <a:xfrm rot="0">
            <a:off x="1028700" y="1460687"/>
            <a:ext cx="4378185" cy="7359479"/>
            <a:chOff x="0" y="0"/>
            <a:chExt cx="3744550" cy="6294374"/>
          </a:xfrm>
        </p:grpSpPr>
        <p:sp>
          <p:nvSpPr>
            <p:cNvPr name="Freeform 8" id="8"/>
            <p:cNvSpPr/>
            <p:nvPr/>
          </p:nvSpPr>
          <p:spPr>
            <a:xfrm flipH="false" flipV="false" rot="0">
              <a:off x="-11" y="0"/>
              <a:ext cx="3744561" cy="6294418"/>
            </a:xfrm>
            <a:custGeom>
              <a:avLst/>
              <a:gdLst/>
              <a:ahLst/>
              <a:cxnLst/>
              <a:rect r="r" b="b" t="t" l="l"/>
              <a:pathLst>
                <a:path h="6294418" w="3744561">
                  <a:moveTo>
                    <a:pt x="3452460" y="0"/>
                  </a:moveTo>
                  <a:cubicBezTo>
                    <a:pt x="3613116" y="0"/>
                    <a:pt x="3744561" y="131445"/>
                    <a:pt x="3744561" y="292100"/>
                  </a:cubicBezTo>
                  <a:lnTo>
                    <a:pt x="3744561" y="6057900"/>
                  </a:lnTo>
                  <a:cubicBezTo>
                    <a:pt x="3744561" y="6218555"/>
                    <a:pt x="3616164" y="6322060"/>
                    <a:pt x="3459191" y="6287897"/>
                  </a:cubicBezTo>
                  <a:lnTo>
                    <a:pt x="202703" y="5657088"/>
                  </a:lnTo>
                  <a:cubicBezTo>
                    <a:pt x="45731" y="5622925"/>
                    <a:pt x="-37962" y="5471414"/>
                    <a:pt x="16775" y="5320284"/>
                  </a:cubicBezTo>
                  <a:lnTo>
                    <a:pt x="147077" y="4960747"/>
                  </a:lnTo>
                  <a:cubicBezTo>
                    <a:pt x="201814" y="4809744"/>
                    <a:pt x="260742" y="4647311"/>
                    <a:pt x="277887" y="4599686"/>
                  </a:cubicBezTo>
                  <a:cubicBezTo>
                    <a:pt x="295159" y="4552188"/>
                    <a:pt x="353960" y="4389755"/>
                    <a:pt x="408697" y="4238625"/>
                  </a:cubicBezTo>
                  <a:lnTo>
                    <a:pt x="1844686" y="274574"/>
                  </a:lnTo>
                  <a:cubicBezTo>
                    <a:pt x="1899423" y="123571"/>
                    <a:pt x="2075699" y="0"/>
                    <a:pt x="2236354" y="0"/>
                  </a:cubicBezTo>
                  <a:lnTo>
                    <a:pt x="3452460" y="0"/>
                  </a:lnTo>
                  <a:close/>
                </a:path>
              </a:pathLst>
            </a:custGeom>
            <a:blipFill>
              <a:blip r:embed="rId6"/>
              <a:stretch>
                <a:fillRect l="-31865" t="0" r="-120047" b="0"/>
              </a:stretch>
            </a:blipFill>
          </p:spPr>
        </p:sp>
      </p:grpSp>
      <p:sp>
        <p:nvSpPr>
          <p:cNvPr name="TextBox 9" id="9"/>
          <p:cNvSpPr txBox="true"/>
          <p:nvPr/>
        </p:nvSpPr>
        <p:spPr>
          <a:xfrm rot="0">
            <a:off x="7116639" y="1276350"/>
            <a:ext cx="9153833" cy="1421131"/>
          </a:xfrm>
          <a:prstGeom prst="rect">
            <a:avLst/>
          </a:prstGeom>
        </p:spPr>
        <p:txBody>
          <a:bodyPr anchor="t" rtlCol="false" tIns="0" lIns="0" bIns="0" rIns="0">
            <a:spAutoFit/>
          </a:bodyPr>
          <a:lstStyle/>
          <a:p>
            <a:pPr algn="l">
              <a:lnSpc>
                <a:spcPts val="10560"/>
              </a:lnSpc>
            </a:pPr>
            <a:r>
              <a:rPr lang="en-US" sz="11000" b="true">
                <a:solidFill>
                  <a:srgbClr val="1E1E1E"/>
                </a:solidFill>
                <a:latin typeface="Montserrat Bold"/>
                <a:ea typeface="Montserrat Bold"/>
                <a:cs typeface="Montserrat Bold"/>
                <a:sym typeface="Montserrat Bold"/>
              </a:rPr>
              <a:t>OBJECTIVES</a:t>
            </a:r>
          </a:p>
        </p:txBody>
      </p:sp>
      <p:sp>
        <p:nvSpPr>
          <p:cNvPr name="TextBox 10" id="10"/>
          <p:cNvSpPr txBox="true"/>
          <p:nvPr/>
        </p:nvSpPr>
        <p:spPr>
          <a:xfrm rot="0">
            <a:off x="7296330" y="5930137"/>
            <a:ext cx="9999702" cy="825931"/>
          </a:xfrm>
          <a:prstGeom prst="rect">
            <a:avLst/>
          </a:prstGeom>
        </p:spPr>
        <p:txBody>
          <a:bodyPr anchor="t" rtlCol="false" tIns="0" lIns="0" bIns="0" rIns="0">
            <a:spAutoFit/>
          </a:bodyPr>
          <a:lstStyle/>
          <a:p>
            <a:pPr algn="ctr">
              <a:lnSpc>
                <a:spcPts val="3301"/>
              </a:lnSpc>
            </a:pPr>
            <a:r>
              <a:rPr lang="en-US" sz="2358" b="true">
                <a:solidFill>
                  <a:srgbClr val="1E1E1E"/>
                </a:solidFill>
                <a:latin typeface="Canva Sans Bold"/>
                <a:ea typeface="Canva Sans Bold"/>
                <a:cs typeface="Canva Sans Bold"/>
                <a:sym typeface="Canva Sans Bold"/>
              </a:rPr>
              <a:t>To analyze and monitor students’ academic performance effectively.</a:t>
            </a:r>
          </a:p>
          <a:p>
            <a:pPr algn="ctr">
              <a:lnSpc>
                <a:spcPts val="3301"/>
              </a:lnSpc>
            </a:pPr>
          </a:p>
        </p:txBody>
      </p:sp>
      <p:sp>
        <p:nvSpPr>
          <p:cNvPr name="TextBox 11" id="11"/>
          <p:cNvSpPr txBox="true"/>
          <p:nvPr/>
        </p:nvSpPr>
        <p:spPr>
          <a:xfrm rot="0">
            <a:off x="7116639" y="7198411"/>
            <a:ext cx="10006847" cy="348472"/>
          </a:xfrm>
          <a:prstGeom prst="rect">
            <a:avLst/>
          </a:prstGeom>
        </p:spPr>
        <p:txBody>
          <a:bodyPr anchor="t" rtlCol="false" tIns="0" lIns="0" bIns="0" rIns="0">
            <a:spAutoFit/>
          </a:bodyPr>
          <a:lstStyle/>
          <a:p>
            <a:pPr algn="ctr">
              <a:lnSpc>
                <a:spcPts val="2842"/>
              </a:lnSpc>
            </a:pPr>
            <a:r>
              <a:rPr lang="en-US" sz="2030" b="true">
                <a:solidFill>
                  <a:srgbClr val="1E1E1E"/>
                </a:solidFill>
                <a:latin typeface="Canva Sans Bold"/>
                <a:ea typeface="Canva Sans Bold"/>
                <a:cs typeface="Canva Sans Bold"/>
                <a:sym typeface="Canva Sans Bold"/>
              </a:rPr>
              <a:t>To identify students’ strengths, weaknesses, and areas that need improvement</a:t>
            </a:r>
          </a:p>
        </p:txBody>
      </p:sp>
      <p:sp>
        <p:nvSpPr>
          <p:cNvPr name="TextBox 12" id="12"/>
          <p:cNvSpPr txBox="true"/>
          <p:nvPr/>
        </p:nvSpPr>
        <p:spPr>
          <a:xfrm rot="0">
            <a:off x="7232295" y="8445923"/>
            <a:ext cx="9422845" cy="709873"/>
          </a:xfrm>
          <a:prstGeom prst="rect">
            <a:avLst/>
          </a:prstGeom>
        </p:spPr>
        <p:txBody>
          <a:bodyPr anchor="t" rtlCol="false" tIns="0" lIns="0" bIns="0" rIns="0">
            <a:spAutoFit/>
          </a:bodyPr>
          <a:lstStyle/>
          <a:p>
            <a:pPr algn="ctr">
              <a:lnSpc>
                <a:spcPts val="2873"/>
              </a:lnSpc>
            </a:pPr>
            <a:r>
              <a:rPr lang="en-US" sz="2052" b="true">
                <a:solidFill>
                  <a:srgbClr val="1E1E1E"/>
                </a:solidFill>
                <a:latin typeface="Canva Sans Bold"/>
                <a:ea typeface="Canva Sans Bold"/>
                <a:cs typeface="Canva Sans Bold"/>
                <a:sym typeface="Canva Sans Bold"/>
              </a:rPr>
              <a:t>To help teachers make better academic decisions using performance data.</a:t>
            </a:r>
          </a:p>
          <a:p>
            <a:pPr algn="ctr">
              <a:lnSpc>
                <a:spcPts val="2873"/>
              </a:lnSpc>
            </a:pP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true" flipV="false" rot="0">
            <a:off x="14173200" y="0"/>
            <a:ext cx="4114800" cy="4114800"/>
          </a:xfrm>
          <a:custGeom>
            <a:avLst/>
            <a:gdLst/>
            <a:ahLst/>
            <a:cxnLst/>
            <a:rect r="r" b="b" t="t" l="l"/>
            <a:pathLst>
              <a:path h="4114800" w="4114800">
                <a:moveTo>
                  <a:pt x="4114800" y="0"/>
                </a:moveTo>
                <a:lnTo>
                  <a:pt x="0" y="0"/>
                </a:lnTo>
                <a:lnTo>
                  <a:pt x="0" y="4114800"/>
                </a:lnTo>
                <a:lnTo>
                  <a:pt x="4114800" y="4114800"/>
                </a:lnTo>
                <a:lnTo>
                  <a:pt x="411480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true" rot="0">
            <a:off x="0" y="6172200"/>
            <a:ext cx="4114800" cy="4114800"/>
          </a:xfrm>
          <a:custGeom>
            <a:avLst/>
            <a:gdLst/>
            <a:ahLst/>
            <a:cxnLst/>
            <a:rect r="r" b="b" t="t" l="l"/>
            <a:pathLst>
              <a:path h="4114800" w="4114800">
                <a:moveTo>
                  <a:pt x="0" y="4114800"/>
                </a:moveTo>
                <a:lnTo>
                  <a:pt x="4114800" y="4114800"/>
                </a:lnTo>
                <a:lnTo>
                  <a:pt x="4114800" y="0"/>
                </a:lnTo>
                <a:lnTo>
                  <a:pt x="0" y="0"/>
                </a:lnTo>
                <a:lnTo>
                  <a:pt x="0" y="411480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0581627" y="3198746"/>
            <a:ext cx="6155409" cy="5946908"/>
            <a:chOff x="0" y="0"/>
            <a:chExt cx="6268847" cy="6056503"/>
          </a:xfrm>
        </p:grpSpPr>
        <p:sp>
          <p:nvSpPr>
            <p:cNvPr name="Freeform 5" id="5"/>
            <p:cNvSpPr/>
            <p:nvPr/>
          </p:nvSpPr>
          <p:spPr>
            <a:xfrm flipH="false" flipV="false" rot="0">
              <a:off x="0" y="-25"/>
              <a:ext cx="6268836" cy="6056528"/>
            </a:xfrm>
            <a:custGeom>
              <a:avLst/>
              <a:gdLst/>
              <a:ahLst/>
              <a:cxnLst/>
              <a:rect r="r" b="b" t="t" l="l"/>
              <a:pathLst>
                <a:path h="6056528" w="6268836">
                  <a:moveTo>
                    <a:pt x="285750" y="773328"/>
                  </a:moveTo>
                  <a:cubicBezTo>
                    <a:pt x="128651" y="806475"/>
                    <a:pt x="0" y="965098"/>
                    <a:pt x="0" y="1125753"/>
                  </a:cubicBezTo>
                  <a:lnTo>
                    <a:pt x="0" y="5764428"/>
                  </a:lnTo>
                  <a:cubicBezTo>
                    <a:pt x="0" y="5925083"/>
                    <a:pt x="131445" y="6056528"/>
                    <a:pt x="292100" y="6056528"/>
                  </a:cubicBezTo>
                  <a:lnTo>
                    <a:pt x="6057900" y="6056528"/>
                  </a:lnTo>
                  <a:cubicBezTo>
                    <a:pt x="6218555" y="6056528"/>
                    <a:pt x="6306439" y="5932449"/>
                    <a:pt x="6253353" y="5780938"/>
                  </a:cubicBezTo>
                  <a:lnTo>
                    <a:pt x="4303776" y="221894"/>
                  </a:lnTo>
                  <a:cubicBezTo>
                    <a:pt x="4250563" y="70256"/>
                    <a:pt x="4078478" y="-26645"/>
                    <a:pt x="3921252" y="6502"/>
                  </a:cubicBezTo>
                  <a:lnTo>
                    <a:pt x="285750" y="773328"/>
                  </a:lnTo>
                  <a:close/>
                </a:path>
              </a:pathLst>
            </a:custGeom>
            <a:blipFill>
              <a:blip r:embed="rId4"/>
              <a:stretch>
                <a:fillRect l="-22394" t="0" r="-22394" b="0"/>
              </a:stretch>
            </a:blipFill>
          </p:spPr>
        </p:sp>
      </p:grpSp>
      <p:sp>
        <p:nvSpPr>
          <p:cNvPr name="TextBox 6" id="6"/>
          <p:cNvSpPr txBox="true"/>
          <p:nvPr/>
        </p:nvSpPr>
        <p:spPr>
          <a:xfrm rot="0">
            <a:off x="1613358" y="1276350"/>
            <a:ext cx="12559842" cy="1421131"/>
          </a:xfrm>
          <a:prstGeom prst="rect">
            <a:avLst/>
          </a:prstGeom>
        </p:spPr>
        <p:txBody>
          <a:bodyPr anchor="t" rtlCol="false" tIns="0" lIns="0" bIns="0" rIns="0">
            <a:spAutoFit/>
          </a:bodyPr>
          <a:lstStyle/>
          <a:p>
            <a:pPr algn="l">
              <a:lnSpc>
                <a:spcPts val="10560"/>
              </a:lnSpc>
            </a:pPr>
            <a:r>
              <a:rPr lang="en-US" sz="11000" b="true">
                <a:solidFill>
                  <a:srgbClr val="1E1E1E"/>
                </a:solidFill>
                <a:latin typeface="Montserrat Bold"/>
                <a:ea typeface="Montserrat Bold"/>
                <a:cs typeface="Montserrat Bold"/>
                <a:sym typeface="Montserrat Bold"/>
              </a:rPr>
              <a:t>METHODOLOGY</a:t>
            </a:r>
          </a:p>
        </p:txBody>
      </p:sp>
      <p:sp>
        <p:nvSpPr>
          <p:cNvPr name="TextBox 7" id="7"/>
          <p:cNvSpPr txBox="true"/>
          <p:nvPr/>
        </p:nvSpPr>
        <p:spPr>
          <a:xfrm rot="0">
            <a:off x="1028700" y="6115050"/>
            <a:ext cx="9856830" cy="2679243"/>
          </a:xfrm>
          <a:prstGeom prst="rect">
            <a:avLst/>
          </a:prstGeom>
        </p:spPr>
        <p:txBody>
          <a:bodyPr anchor="t" rtlCol="false" tIns="0" lIns="0" bIns="0" rIns="0">
            <a:spAutoFit/>
          </a:bodyPr>
          <a:lstStyle/>
          <a:p>
            <a:pPr algn="l">
              <a:lnSpc>
                <a:spcPts val="3525"/>
              </a:lnSpc>
            </a:pPr>
            <a:r>
              <a:rPr lang="en-US" sz="2517">
                <a:solidFill>
                  <a:srgbClr val="1E1E1E"/>
                </a:solidFill>
                <a:latin typeface="Canva Sans"/>
                <a:ea typeface="Canva Sans"/>
                <a:cs typeface="Canva Sans"/>
                <a:sym typeface="Canva Sans"/>
              </a:rPr>
              <a:t>The system collects relevant student data such as marks, attendance, assignments, and other academic records. The collected data is processed and analyzed to identify performance patterns. The results can then be presented through reports or visual representations, making it easier for teachers to understand and evaluate student progress.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true" flipV="false" rot="0">
            <a:off x="14792167" y="0"/>
            <a:ext cx="3495833" cy="3495833"/>
          </a:xfrm>
          <a:custGeom>
            <a:avLst/>
            <a:gdLst/>
            <a:ahLst/>
            <a:cxnLst/>
            <a:rect r="r" b="b" t="t" l="l"/>
            <a:pathLst>
              <a:path h="3495833" w="3495833">
                <a:moveTo>
                  <a:pt x="3495833" y="0"/>
                </a:moveTo>
                <a:lnTo>
                  <a:pt x="0" y="0"/>
                </a:lnTo>
                <a:lnTo>
                  <a:pt x="0" y="3495833"/>
                </a:lnTo>
                <a:lnTo>
                  <a:pt x="3495833" y="3495833"/>
                </a:lnTo>
                <a:lnTo>
                  <a:pt x="3495833"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true" rot="0">
            <a:off x="0" y="6791167"/>
            <a:ext cx="3495833" cy="3495833"/>
          </a:xfrm>
          <a:custGeom>
            <a:avLst/>
            <a:gdLst/>
            <a:ahLst/>
            <a:cxnLst/>
            <a:rect r="r" b="b" t="t" l="l"/>
            <a:pathLst>
              <a:path h="3495833" w="3495833">
                <a:moveTo>
                  <a:pt x="0" y="3495833"/>
                </a:moveTo>
                <a:lnTo>
                  <a:pt x="3495833" y="3495833"/>
                </a:lnTo>
                <a:lnTo>
                  <a:pt x="3495833" y="0"/>
                </a:lnTo>
                <a:lnTo>
                  <a:pt x="0" y="0"/>
                </a:lnTo>
                <a:lnTo>
                  <a:pt x="0" y="3495833"/>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0208908" y="3495833"/>
            <a:ext cx="6086831" cy="5762467"/>
            <a:chOff x="0" y="0"/>
            <a:chExt cx="6648947" cy="6294628"/>
          </a:xfrm>
        </p:grpSpPr>
        <p:sp>
          <p:nvSpPr>
            <p:cNvPr name="Freeform 5" id="5"/>
            <p:cNvSpPr/>
            <p:nvPr/>
          </p:nvSpPr>
          <p:spPr>
            <a:xfrm flipH="false" flipV="false" rot="0">
              <a:off x="0" y="0"/>
              <a:ext cx="6648836" cy="6294633"/>
            </a:xfrm>
            <a:custGeom>
              <a:avLst/>
              <a:gdLst/>
              <a:ahLst/>
              <a:cxnLst/>
              <a:rect r="r" b="b" t="t" l="l"/>
              <a:pathLst>
                <a:path h="6294633" w="6648836">
                  <a:moveTo>
                    <a:pt x="6421744" y="0"/>
                  </a:moveTo>
                  <a:cubicBezTo>
                    <a:pt x="6582399" y="0"/>
                    <a:pt x="6680443" y="127127"/>
                    <a:pt x="6639549" y="282448"/>
                  </a:cubicBezTo>
                  <a:lnTo>
                    <a:pt x="5119613" y="6067552"/>
                  </a:lnTo>
                  <a:cubicBezTo>
                    <a:pt x="5078846" y="6222873"/>
                    <a:pt x="4916921" y="6322060"/>
                    <a:pt x="4759949" y="6287897"/>
                  </a:cubicBezTo>
                  <a:lnTo>
                    <a:pt x="285369" y="5466842"/>
                  </a:lnTo>
                  <a:cubicBezTo>
                    <a:pt x="128397" y="5432679"/>
                    <a:pt x="0" y="5273294"/>
                    <a:pt x="0" y="5112639"/>
                  </a:cubicBezTo>
                  <a:lnTo>
                    <a:pt x="0" y="292100"/>
                  </a:lnTo>
                  <a:cubicBezTo>
                    <a:pt x="0" y="131445"/>
                    <a:pt x="131445" y="0"/>
                    <a:pt x="292100" y="0"/>
                  </a:cubicBezTo>
                  <a:lnTo>
                    <a:pt x="6421744" y="0"/>
                  </a:lnTo>
                  <a:close/>
                </a:path>
              </a:pathLst>
            </a:custGeom>
            <a:blipFill>
              <a:blip r:embed="rId4"/>
              <a:stretch>
                <a:fillRect l="-34255" t="0" r="-34255" b="0"/>
              </a:stretch>
            </a:blipFill>
          </p:spPr>
        </p:sp>
      </p:grpSp>
      <p:sp>
        <p:nvSpPr>
          <p:cNvPr name="TextBox 6" id="6"/>
          <p:cNvSpPr txBox="true"/>
          <p:nvPr/>
        </p:nvSpPr>
        <p:spPr>
          <a:xfrm rot="0">
            <a:off x="2220591" y="1580212"/>
            <a:ext cx="10871719" cy="1421131"/>
          </a:xfrm>
          <a:prstGeom prst="rect">
            <a:avLst/>
          </a:prstGeom>
        </p:spPr>
        <p:txBody>
          <a:bodyPr anchor="t" rtlCol="false" tIns="0" lIns="0" bIns="0" rIns="0">
            <a:spAutoFit/>
          </a:bodyPr>
          <a:lstStyle/>
          <a:p>
            <a:pPr algn="l">
              <a:lnSpc>
                <a:spcPts val="10560"/>
              </a:lnSpc>
            </a:pPr>
            <a:r>
              <a:rPr lang="en-US" sz="11000" b="true">
                <a:solidFill>
                  <a:srgbClr val="1E1E1E"/>
                </a:solidFill>
                <a:latin typeface="Montserrat Bold"/>
                <a:ea typeface="Montserrat Bold"/>
                <a:cs typeface="Montserrat Bold"/>
                <a:sym typeface="Montserrat Bold"/>
              </a:rPr>
              <a:t>DISCUSSION</a:t>
            </a:r>
          </a:p>
        </p:txBody>
      </p:sp>
      <p:sp>
        <p:nvSpPr>
          <p:cNvPr name="TextBox 7" id="7"/>
          <p:cNvSpPr txBox="true"/>
          <p:nvPr/>
        </p:nvSpPr>
        <p:spPr>
          <a:xfrm rot="0">
            <a:off x="1340558" y="7271071"/>
            <a:ext cx="9303787" cy="1528014"/>
          </a:xfrm>
          <a:prstGeom prst="rect">
            <a:avLst/>
          </a:prstGeom>
        </p:spPr>
        <p:txBody>
          <a:bodyPr anchor="t" rtlCol="false" tIns="0" lIns="0" bIns="0" rIns="0">
            <a:spAutoFit/>
          </a:bodyPr>
          <a:lstStyle/>
          <a:p>
            <a:pPr algn="l">
              <a:lnSpc>
                <a:spcPts val="2461"/>
              </a:lnSpc>
            </a:pPr>
            <a:r>
              <a:rPr lang="en-US" sz="1758">
                <a:solidFill>
                  <a:srgbClr val="1E1E1E"/>
                </a:solidFill>
                <a:latin typeface="Canva Sans"/>
                <a:ea typeface="Canva Sans"/>
                <a:cs typeface="Canva Sans"/>
                <a:sym typeface="Canva Sans"/>
              </a:rPr>
              <a:t>The Students Performance Analysis System provides a simple way to understand academic progress through organized data. By comparing marks, attendance, and other performance factors, teachers can identify students who are performing well and those who require additional attention. This supports timely guidance and helps improve the overall learning process.</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4114800" cy="4114800"/>
          </a:xfrm>
          <a:custGeom>
            <a:avLst/>
            <a:gdLst/>
            <a:ahLst/>
            <a:cxnLst/>
            <a:rect r="r" b="b" t="t" l="l"/>
            <a:pathLst>
              <a:path h="4114800" w="4114800">
                <a:moveTo>
                  <a:pt x="0" y="0"/>
                </a:moveTo>
                <a:lnTo>
                  <a:pt x="4114800" y="0"/>
                </a:lnTo>
                <a:lnTo>
                  <a:pt x="4114800"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0">
            <a:off x="14173200" y="6172200"/>
            <a:ext cx="4114800" cy="4114800"/>
          </a:xfrm>
          <a:custGeom>
            <a:avLst/>
            <a:gdLst/>
            <a:ahLst/>
            <a:cxnLst/>
            <a:rect r="r" b="b" t="t" l="l"/>
            <a:pathLst>
              <a:path h="4114800" w="4114800">
                <a:moveTo>
                  <a:pt x="4114800" y="4114800"/>
                </a:moveTo>
                <a:lnTo>
                  <a:pt x="0" y="4114800"/>
                </a:lnTo>
                <a:lnTo>
                  <a:pt x="0" y="0"/>
                </a:lnTo>
                <a:lnTo>
                  <a:pt x="4114800" y="0"/>
                </a:lnTo>
                <a:lnTo>
                  <a:pt x="4114800" y="411480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2220591" y="5143500"/>
            <a:ext cx="873589" cy="890412"/>
          </a:xfrm>
          <a:custGeom>
            <a:avLst/>
            <a:gdLst/>
            <a:ahLst/>
            <a:cxnLst/>
            <a:rect r="r" b="b" t="t" l="l"/>
            <a:pathLst>
              <a:path h="890412" w="873589">
                <a:moveTo>
                  <a:pt x="0" y="0"/>
                </a:moveTo>
                <a:lnTo>
                  <a:pt x="873589" y="0"/>
                </a:lnTo>
                <a:lnTo>
                  <a:pt x="873589" y="890412"/>
                </a:lnTo>
                <a:lnTo>
                  <a:pt x="0" y="89041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2220591" y="6345961"/>
            <a:ext cx="873589" cy="890412"/>
          </a:xfrm>
          <a:custGeom>
            <a:avLst/>
            <a:gdLst/>
            <a:ahLst/>
            <a:cxnLst/>
            <a:rect r="r" b="b" t="t" l="l"/>
            <a:pathLst>
              <a:path h="890412" w="873589">
                <a:moveTo>
                  <a:pt x="0" y="0"/>
                </a:moveTo>
                <a:lnTo>
                  <a:pt x="873589" y="0"/>
                </a:lnTo>
                <a:lnTo>
                  <a:pt x="873589" y="890412"/>
                </a:lnTo>
                <a:lnTo>
                  <a:pt x="0" y="89041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2220591" y="7550698"/>
            <a:ext cx="873589" cy="890412"/>
          </a:xfrm>
          <a:custGeom>
            <a:avLst/>
            <a:gdLst/>
            <a:ahLst/>
            <a:cxnLst/>
            <a:rect r="r" b="b" t="t" l="l"/>
            <a:pathLst>
              <a:path h="890412" w="873589">
                <a:moveTo>
                  <a:pt x="0" y="0"/>
                </a:moveTo>
                <a:lnTo>
                  <a:pt x="873589" y="0"/>
                </a:lnTo>
                <a:lnTo>
                  <a:pt x="873589" y="890412"/>
                </a:lnTo>
                <a:lnTo>
                  <a:pt x="0" y="89041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7" id="7"/>
          <p:cNvGrpSpPr/>
          <p:nvPr/>
        </p:nvGrpSpPr>
        <p:grpSpPr>
          <a:xfrm rot="0">
            <a:off x="11700370" y="3154026"/>
            <a:ext cx="4530230" cy="5503071"/>
            <a:chOff x="0" y="0"/>
            <a:chExt cx="5181854" cy="6294628"/>
          </a:xfrm>
        </p:grpSpPr>
        <p:sp>
          <p:nvSpPr>
            <p:cNvPr name="Freeform 8" id="8"/>
            <p:cNvSpPr/>
            <p:nvPr/>
          </p:nvSpPr>
          <p:spPr>
            <a:xfrm flipH="false" flipV="false" rot="0">
              <a:off x="38" y="-70"/>
              <a:ext cx="5181943" cy="6294824"/>
            </a:xfrm>
            <a:custGeom>
              <a:avLst/>
              <a:gdLst/>
              <a:ahLst/>
              <a:cxnLst/>
              <a:rect r="r" b="b" t="t" l="l"/>
              <a:pathLst>
                <a:path h="6294824" w="5181943">
                  <a:moveTo>
                    <a:pt x="5181689" y="911422"/>
                  </a:moveTo>
                  <a:cubicBezTo>
                    <a:pt x="5181689" y="750767"/>
                    <a:pt x="5053292" y="591255"/>
                    <a:pt x="4896320" y="557092"/>
                  </a:cubicBezTo>
                  <a:lnTo>
                    <a:pt x="2373211" y="6928"/>
                  </a:lnTo>
                  <a:cubicBezTo>
                    <a:pt x="2216239" y="-27362"/>
                    <a:pt x="2045297" y="69031"/>
                    <a:pt x="1993481" y="221177"/>
                  </a:cubicBezTo>
                  <a:lnTo>
                    <a:pt x="14821" y="6018346"/>
                  </a:lnTo>
                  <a:cubicBezTo>
                    <a:pt x="-37122" y="6170365"/>
                    <a:pt x="51905" y="6294825"/>
                    <a:pt x="212560" y="6294825"/>
                  </a:cubicBezTo>
                  <a:lnTo>
                    <a:pt x="4889843" y="6294825"/>
                  </a:lnTo>
                  <a:cubicBezTo>
                    <a:pt x="5050498" y="6294825"/>
                    <a:pt x="5181943" y="6163380"/>
                    <a:pt x="5181943" y="6002725"/>
                  </a:cubicBezTo>
                  <a:lnTo>
                    <a:pt x="5181689" y="911422"/>
                  </a:lnTo>
                  <a:close/>
                </a:path>
              </a:pathLst>
            </a:custGeom>
            <a:blipFill>
              <a:blip r:embed="rId6"/>
              <a:stretch>
                <a:fillRect l="-41024" t="0" r="-41024" b="0"/>
              </a:stretch>
            </a:blipFill>
          </p:spPr>
        </p:sp>
      </p:grpSp>
      <p:sp>
        <p:nvSpPr>
          <p:cNvPr name="TextBox 9" id="9"/>
          <p:cNvSpPr txBox="true"/>
          <p:nvPr/>
        </p:nvSpPr>
        <p:spPr>
          <a:xfrm rot="0">
            <a:off x="2220591" y="1580212"/>
            <a:ext cx="10871719" cy="1421131"/>
          </a:xfrm>
          <a:prstGeom prst="rect">
            <a:avLst/>
          </a:prstGeom>
        </p:spPr>
        <p:txBody>
          <a:bodyPr anchor="t" rtlCol="false" tIns="0" lIns="0" bIns="0" rIns="0">
            <a:spAutoFit/>
          </a:bodyPr>
          <a:lstStyle/>
          <a:p>
            <a:pPr algn="l">
              <a:lnSpc>
                <a:spcPts val="10560"/>
              </a:lnSpc>
            </a:pPr>
            <a:r>
              <a:rPr lang="en-US" sz="11000" b="true">
                <a:solidFill>
                  <a:srgbClr val="1E1E1E"/>
                </a:solidFill>
                <a:latin typeface="Montserrat Bold"/>
                <a:ea typeface="Montserrat Bold"/>
                <a:cs typeface="Montserrat Bold"/>
                <a:sym typeface="Montserrat Bold"/>
              </a:rPr>
              <a:t>KEY FINDINGS</a:t>
            </a:r>
          </a:p>
        </p:txBody>
      </p:sp>
      <p:sp>
        <p:nvSpPr>
          <p:cNvPr name="TextBox 10" id="10"/>
          <p:cNvSpPr txBox="true"/>
          <p:nvPr/>
        </p:nvSpPr>
        <p:spPr>
          <a:xfrm rot="0">
            <a:off x="3211360" y="5422792"/>
            <a:ext cx="9420939" cy="611120"/>
          </a:xfrm>
          <a:prstGeom prst="rect">
            <a:avLst/>
          </a:prstGeom>
        </p:spPr>
        <p:txBody>
          <a:bodyPr anchor="t" rtlCol="false" tIns="0" lIns="0" bIns="0" rIns="0">
            <a:spAutoFit/>
          </a:bodyPr>
          <a:lstStyle/>
          <a:p>
            <a:pPr algn="ctr">
              <a:lnSpc>
                <a:spcPts val="2541"/>
              </a:lnSpc>
            </a:pPr>
            <a:r>
              <a:rPr lang="en-US" sz="1815" b="true">
                <a:solidFill>
                  <a:srgbClr val="1E1E1E"/>
                </a:solidFill>
                <a:latin typeface="Canva Sans Bold"/>
                <a:ea typeface="Canva Sans Bold"/>
                <a:cs typeface="Canva Sans Bold"/>
                <a:sym typeface="Canva Sans Bold"/>
              </a:rPr>
              <a:t>Regular monitoring helps identify changes in student performance at an early stage.</a:t>
            </a:r>
          </a:p>
          <a:p>
            <a:pPr algn="ctr">
              <a:lnSpc>
                <a:spcPts val="2541"/>
              </a:lnSpc>
            </a:pPr>
          </a:p>
        </p:txBody>
      </p:sp>
      <p:sp>
        <p:nvSpPr>
          <p:cNvPr name="TextBox 11" id="11"/>
          <p:cNvSpPr txBox="true"/>
          <p:nvPr/>
        </p:nvSpPr>
        <p:spPr>
          <a:xfrm rot="0">
            <a:off x="2907955" y="6660258"/>
            <a:ext cx="10027750" cy="576114"/>
          </a:xfrm>
          <a:prstGeom prst="rect">
            <a:avLst/>
          </a:prstGeom>
        </p:spPr>
        <p:txBody>
          <a:bodyPr anchor="t" rtlCol="false" tIns="0" lIns="0" bIns="0" rIns="0">
            <a:spAutoFit/>
          </a:bodyPr>
          <a:lstStyle/>
          <a:p>
            <a:pPr algn="ctr">
              <a:lnSpc>
                <a:spcPts val="2370"/>
              </a:lnSpc>
            </a:pPr>
            <a:r>
              <a:rPr lang="en-US" sz="1693" b="true">
                <a:solidFill>
                  <a:srgbClr val="1E1E1E"/>
                </a:solidFill>
                <a:latin typeface="Canva Sans Bold"/>
                <a:ea typeface="Canva Sans Bold"/>
                <a:cs typeface="Canva Sans Bold"/>
                <a:sym typeface="Canva Sans Bold"/>
              </a:rPr>
              <a:t>Attendance and academic activities can have a significant impact on overall performance.</a:t>
            </a:r>
          </a:p>
          <a:p>
            <a:pPr algn="ctr">
              <a:lnSpc>
                <a:spcPts val="2370"/>
              </a:lnSpc>
            </a:pPr>
          </a:p>
        </p:txBody>
      </p:sp>
      <p:sp>
        <p:nvSpPr>
          <p:cNvPr name="TextBox 12" id="12"/>
          <p:cNvSpPr txBox="true"/>
          <p:nvPr/>
        </p:nvSpPr>
        <p:spPr>
          <a:xfrm rot="0">
            <a:off x="3211360" y="7865023"/>
            <a:ext cx="8744863" cy="844875"/>
          </a:xfrm>
          <a:prstGeom prst="rect">
            <a:avLst/>
          </a:prstGeom>
        </p:spPr>
        <p:txBody>
          <a:bodyPr anchor="t" rtlCol="false" tIns="0" lIns="0" bIns="0" rIns="0">
            <a:spAutoFit/>
          </a:bodyPr>
          <a:lstStyle/>
          <a:p>
            <a:pPr algn="l">
              <a:lnSpc>
                <a:spcPts val="2257"/>
              </a:lnSpc>
            </a:pPr>
            <a:r>
              <a:rPr lang="en-US" sz="1612" b="true">
                <a:solidFill>
                  <a:srgbClr val="1E1E1E"/>
                </a:solidFill>
                <a:latin typeface="Canva Sans Bold"/>
                <a:ea typeface="Canva Sans Bold"/>
                <a:cs typeface="Canva Sans Bold"/>
                <a:sym typeface="Canva Sans Bold"/>
              </a:rPr>
              <a:t>Data-based analysis helps teachers provide more effective and personalized support to students.</a:t>
            </a:r>
          </a:p>
          <a:p>
            <a:pPr algn="l">
              <a:lnSpc>
                <a:spcPts val="2257"/>
              </a:lnSpc>
            </a:pP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3613543" cy="4114800"/>
          </a:xfrm>
          <a:custGeom>
            <a:avLst/>
            <a:gdLst/>
            <a:ahLst/>
            <a:cxnLst/>
            <a:rect r="r" b="b" t="t" l="l"/>
            <a:pathLst>
              <a:path h="4114800" w="3613543">
                <a:moveTo>
                  <a:pt x="0" y="0"/>
                </a:moveTo>
                <a:lnTo>
                  <a:pt x="3613543" y="0"/>
                </a:lnTo>
                <a:lnTo>
                  <a:pt x="3613543"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0">
            <a:off x="14674457" y="6172200"/>
            <a:ext cx="3613543" cy="4114800"/>
          </a:xfrm>
          <a:custGeom>
            <a:avLst/>
            <a:gdLst/>
            <a:ahLst/>
            <a:cxnLst/>
            <a:rect r="r" b="b" t="t" l="l"/>
            <a:pathLst>
              <a:path h="4114800" w="3613543">
                <a:moveTo>
                  <a:pt x="3613543" y="4114800"/>
                </a:moveTo>
                <a:lnTo>
                  <a:pt x="0" y="4114800"/>
                </a:lnTo>
                <a:lnTo>
                  <a:pt x="0" y="0"/>
                </a:lnTo>
                <a:lnTo>
                  <a:pt x="3613543" y="0"/>
                </a:lnTo>
                <a:lnTo>
                  <a:pt x="3613543" y="411480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0237809" y="3272255"/>
            <a:ext cx="4966704" cy="5799890"/>
            <a:chOff x="0" y="0"/>
            <a:chExt cx="5390153" cy="6294374"/>
          </a:xfrm>
        </p:grpSpPr>
        <p:sp>
          <p:nvSpPr>
            <p:cNvPr name="Freeform 5" id="5"/>
            <p:cNvSpPr/>
            <p:nvPr/>
          </p:nvSpPr>
          <p:spPr>
            <a:xfrm flipH="false" flipV="false" rot="0">
              <a:off x="40" y="0"/>
              <a:ext cx="5390113" cy="6294418"/>
            </a:xfrm>
            <a:custGeom>
              <a:avLst/>
              <a:gdLst/>
              <a:ahLst/>
              <a:cxnLst/>
              <a:rect r="r" b="b" t="t" l="l"/>
              <a:pathLst>
                <a:path h="6294418" w="5390113">
                  <a:moveTo>
                    <a:pt x="5098013" y="0"/>
                  </a:moveTo>
                  <a:cubicBezTo>
                    <a:pt x="5258668" y="0"/>
                    <a:pt x="5390113" y="131445"/>
                    <a:pt x="5390113" y="292100"/>
                  </a:cubicBezTo>
                  <a:lnTo>
                    <a:pt x="5390113" y="6057900"/>
                  </a:lnTo>
                  <a:cubicBezTo>
                    <a:pt x="5390113" y="6218555"/>
                    <a:pt x="5261716" y="6322060"/>
                    <a:pt x="5104744" y="6287897"/>
                  </a:cubicBezTo>
                  <a:lnTo>
                    <a:pt x="1565743" y="5561457"/>
                  </a:lnTo>
                  <a:cubicBezTo>
                    <a:pt x="1408771" y="5527294"/>
                    <a:pt x="1249132" y="5371592"/>
                    <a:pt x="1211159" y="5215509"/>
                  </a:cubicBezTo>
                  <a:lnTo>
                    <a:pt x="8088" y="283718"/>
                  </a:lnTo>
                  <a:cubicBezTo>
                    <a:pt x="-30012" y="127762"/>
                    <a:pt x="70191" y="0"/>
                    <a:pt x="230846" y="0"/>
                  </a:cubicBezTo>
                  <a:lnTo>
                    <a:pt x="5098013" y="0"/>
                  </a:lnTo>
                  <a:close/>
                </a:path>
              </a:pathLst>
            </a:custGeom>
            <a:blipFill>
              <a:blip r:embed="rId4"/>
              <a:stretch>
                <a:fillRect l="-37503" t="0" r="-37503" b="0"/>
              </a:stretch>
            </a:blipFill>
          </p:spPr>
        </p:sp>
      </p:grpSp>
      <p:sp>
        <p:nvSpPr>
          <p:cNvPr name="TextBox 6" id="6"/>
          <p:cNvSpPr txBox="true"/>
          <p:nvPr/>
        </p:nvSpPr>
        <p:spPr>
          <a:xfrm rot="0">
            <a:off x="2220591" y="1580212"/>
            <a:ext cx="10871719" cy="1421131"/>
          </a:xfrm>
          <a:prstGeom prst="rect">
            <a:avLst/>
          </a:prstGeom>
        </p:spPr>
        <p:txBody>
          <a:bodyPr anchor="t" rtlCol="false" tIns="0" lIns="0" bIns="0" rIns="0">
            <a:spAutoFit/>
          </a:bodyPr>
          <a:lstStyle/>
          <a:p>
            <a:pPr algn="l">
              <a:lnSpc>
                <a:spcPts val="10560"/>
              </a:lnSpc>
            </a:pPr>
            <a:r>
              <a:rPr lang="en-US" sz="11000" b="true">
                <a:solidFill>
                  <a:srgbClr val="1E1E1E"/>
                </a:solidFill>
                <a:latin typeface="Montserrat Bold"/>
                <a:ea typeface="Montserrat Bold"/>
                <a:cs typeface="Montserrat Bold"/>
                <a:sym typeface="Montserrat Bold"/>
              </a:rPr>
              <a:t>CONCLUSION</a:t>
            </a:r>
          </a:p>
        </p:txBody>
      </p:sp>
      <p:sp>
        <p:nvSpPr>
          <p:cNvPr name="TextBox 7" id="7"/>
          <p:cNvSpPr txBox="true"/>
          <p:nvPr/>
        </p:nvSpPr>
        <p:spPr>
          <a:xfrm rot="0">
            <a:off x="1028700" y="6124575"/>
            <a:ext cx="9569591" cy="2557590"/>
          </a:xfrm>
          <a:prstGeom prst="rect">
            <a:avLst/>
          </a:prstGeom>
        </p:spPr>
        <p:txBody>
          <a:bodyPr anchor="t" rtlCol="false" tIns="0" lIns="0" bIns="0" rIns="0">
            <a:spAutoFit/>
          </a:bodyPr>
          <a:lstStyle/>
          <a:p>
            <a:pPr algn="l">
              <a:lnSpc>
                <a:spcPts val="3405"/>
              </a:lnSpc>
            </a:pPr>
            <a:r>
              <a:rPr lang="en-US" sz="2432">
                <a:solidFill>
                  <a:srgbClr val="1E1E1E"/>
                </a:solidFill>
                <a:latin typeface="Canva Sans"/>
                <a:ea typeface="Canva Sans"/>
                <a:cs typeface="Canva Sans"/>
                <a:sym typeface="Canva Sans"/>
              </a:rPr>
              <a:t>The Students Performance Analysis System is a useful approach for improving academic monitoring and decision-making. It reduces the difficulties of manual analysis and provides meaningful insights into student performance. Overall, the system can help teachers support students more effectively and contribute to better academic outcomes.</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4583730" cy="4583730"/>
          </a:xfrm>
          <a:custGeom>
            <a:avLst/>
            <a:gdLst/>
            <a:ahLst/>
            <a:cxnLst/>
            <a:rect r="r" b="b" t="t" l="l"/>
            <a:pathLst>
              <a:path h="4583730" w="4583730">
                <a:moveTo>
                  <a:pt x="0" y="0"/>
                </a:moveTo>
                <a:lnTo>
                  <a:pt x="4583730" y="0"/>
                </a:lnTo>
                <a:lnTo>
                  <a:pt x="4583730" y="4583730"/>
                </a:lnTo>
                <a:lnTo>
                  <a:pt x="0" y="458373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0">
            <a:off x="13572139" y="5571139"/>
            <a:ext cx="4715861" cy="4715861"/>
          </a:xfrm>
          <a:custGeom>
            <a:avLst/>
            <a:gdLst/>
            <a:ahLst/>
            <a:cxnLst/>
            <a:rect r="r" b="b" t="t" l="l"/>
            <a:pathLst>
              <a:path h="4715861" w="4715861">
                <a:moveTo>
                  <a:pt x="4715861" y="4715861"/>
                </a:moveTo>
                <a:lnTo>
                  <a:pt x="0" y="4715861"/>
                </a:lnTo>
                <a:lnTo>
                  <a:pt x="0" y="0"/>
                </a:lnTo>
                <a:lnTo>
                  <a:pt x="4715861" y="0"/>
                </a:lnTo>
                <a:lnTo>
                  <a:pt x="4715861" y="4715861"/>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true" rot="0">
            <a:off x="0" y="7642577"/>
            <a:ext cx="2644423" cy="2644423"/>
          </a:xfrm>
          <a:custGeom>
            <a:avLst/>
            <a:gdLst/>
            <a:ahLst/>
            <a:cxnLst/>
            <a:rect r="r" b="b" t="t" l="l"/>
            <a:pathLst>
              <a:path h="2644423" w="2644423">
                <a:moveTo>
                  <a:pt x="0" y="2644423"/>
                </a:moveTo>
                <a:lnTo>
                  <a:pt x="2644423" y="2644423"/>
                </a:lnTo>
                <a:lnTo>
                  <a:pt x="2644423" y="0"/>
                </a:lnTo>
                <a:lnTo>
                  <a:pt x="0" y="0"/>
                </a:lnTo>
                <a:lnTo>
                  <a:pt x="0" y="2644423"/>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false" rot="0">
            <a:off x="15814792" y="0"/>
            <a:ext cx="2473208" cy="2473208"/>
          </a:xfrm>
          <a:custGeom>
            <a:avLst/>
            <a:gdLst/>
            <a:ahLst/>
            <a:cxnLst/>
            <a:rect r="r" b="b" t="t" l="l"/>
            <a:pathLst>
              <a:path h="2473208" w="2473208">
                <a:moveTo>
                  <a:pt x="2473208" y="0"/>
                </a:moveTo>
                <a:lnTo>
                  <a:pt x="0" y="0"/>
                </a:lnTo>
                <a:lnTo>
                  <a:pt x="0" y="2473208"/>
                </a:lnTo>
                <a:lnTo>
                  <a:pt x="2473208" y="2473208"/>
                </a:lnTo>
                <a:lnTo>
                  <a:pt x="2473208"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6" id="6"/>
          <p:cNvSpPr txBox="true"/>
          <p:nvPr/>
        </p:nvSpPr>
        <p:spPr>
          <a:xfrm rot="0">
            <a:off x="4767624" y="2571750"/>
            <a:ext cx="8752752" cy="2571750"/>
          </a:xfrm>
          <a:prstGeom prst="rect">
            <a:avLst/>
          </a:prstGeom>
        </p:spPr>
        <p:txBody>
          <a:bodyPr anchor="t" rtlCol="false" tIns="0" lIns="0" bIns="0" rIns="0">
            <a:spAutoFit/>
          </a:bodyPr>
          <a:lstStyle/>
          <a:p>
            <a:pPr algn="ctr">
              <a:lnSpc>
                <a:spcPts val="21000"/>
              </a:lnSpc>
            </a:pPr>
            <a:r>
              <a:rPr lang="en-US" b="true" sz="15000">
                <a:solidFill>
                  <a:srgbClr val="1E1E1E"/>
                </a:solidFill>
                <a:latin typeface="Montserrat Bold"/>
                <a:ea typeface="Montserrat Bold"/>
                <a:cs typeface="Montserrat Bold"/>
                <a:sym typeface="Montserrat Bold"/>
              </a:rPr>
              <a:t>THANK</a:t>
            </a:r>
          </a:p>
        </p:txBody>
      </p:sp>
      <p:sp>
        <p:nvSpPr>
          <p:cNvPr name="TextBox 7" id="7"/>
          <p:cNvSpPr txBox="true"/>
          <p:nvPr/>
        </p:nvSpPr>
        <p:spPr>
          <a:xfrm rot="0">
            <a:off x="4382970" y="4297980"/>
            <a:ext cx="9522059" cy="2571750"/>
          </a:xfrm>
          <a:prstGeom prst="rect">
            <a:avLst/>
          </a:prstGeom>
        </p:spPr>
        <p:txBody>
          <a:bodyPr anchor="t" rtlCol="false" tIns="0" lIns="0" bIns="0" rIns="0">
            <a:spAutoFit/>
          </a:bodyPr>
          <a:lstStyle/>
          <a:p>
            <a:pPr algn="ctr">
              <a:lnSpc>
                <a:spcPts val="21000"/>
              </a:lnSpc>
            </a:pPr>
            <a:r>
              <a:rPr lang="en-US" b="true" sz="15000">
                <a:solidFill>
                  <a:srgbClr val="1E1E1E"/>
                </a:solidFill>
                <a:latin typeface="Montserrat Bold"/>
                <a:ea typeface="Montserrat Bold"/>
                <a:cs typeface="Montserrat Bold"/>
                <a:sym typeface="Montserrat Bold"/>
              </a:rPr>
              <a:t>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DAHU5qJ6Fts</dc:identifier>
  <dcterms:modified xsi:type="dcterms:W3CDTF">2011-08-01T06:04:30Z</dcterms:modified>
  <cp:revision>1</cp:revision>
  <dc:title>o</dc:title>
</cp:coreProperties>
</file>
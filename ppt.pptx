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Bricolage Grotesque Ultra-Bold" charset="1" panose="020B0605040402000204"/>
      <p:regular r:id="rId15"/>
    </p:embeddedFont>
    <p:embeddedFont>
      <p:font typeface="Roboto Bold" charset="1" panose="02000000000000000000"/>
      <p:regular r:id="rId16"/>
    </p:embeddedFont>
    <p:embeddedFont>
      <p:font typeface="Bricolage Grotesque" charset="1" panose="020B0605040402000204"/>
      <p:regular r:id="rId17"/>
    </p:embeddedFont>
    <p:embeddedFont>
      <p:font typeface="Bricolage Grotesque Bold" charset="1" panose="020B0605040402000204"/>
      <p:regular r:id="rId18"/>
    </p:embeddedFont>
    <p:embeddedFont>
      <p:font typeface="Roboto" charset="1" panose="020000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Relationship Id="rId6" Target="../media/image15.png" Type="http://schemas.openxmlformats.org/officeDocument/2006/relationships/image"/><Relationship Id="rId7" Target="../media/image1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png" Type="http://schemas.openxmlformats.org/officeDocument/2006/relationships/image"/><Relationship Id="rId11" Target="../media/image26.png" Type="http://schemas.openxmlformats.org/officeDocument/2006/relationships/image"/><Relationship Id="rId2" Target="../media/image17.png" Type="http://schemas.openxmlformats.org/officeDocument/2006/relationships/image"/><Relationship Id="rId3" Target="../media/image18.png" Type="http://schemas.openxmlformats.org/officeDocument/2006/relationships/image"/><Relationship Id="rId4" Target="../media/image19.png" Type="http://schemas.openxmlformats.org/officeDocument/2006/relationships/image"/><Relationship Id="rId5" Target="../media/image20.png" Type="http://schemas.openxmlformats.org/officeDocument/2006/relationships/image"/><Relationship Id="rId6" Target="../media/image21.png" Type="http://schemas.openxmlformats.org/officeDocument/2006/relationships/image"/><Relationship Id="rId7" Target="../media/image22.png" Type="http://schemas.openxmlformats.org/officeDocument/2006/relationships/image"/><Relationship Id="rId8" Target="../media/image23.png" Type="http://schemas.openxmlformats.org/officeDocument/2006/relationships/image"/><Relationship Id="rId9" Target="../media/image2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Relationship Id="rId3" Target="../media/image28.png" Type="http://schemas.openxmlformats.org/officeDocument/2006/relationships/image"/><Relationship Id="rId4" Target="../media/image29.png" Type="http://schemas.openxmlformats.org/officeDocument/2006/relationships/image"/><Relationship Id="rId5" Target="../media/image3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9.png" Type="http://schemas.openxmlformats.org/officeDocument/2006/relationships/image"/><Relationship Id="rId11" Target="../media/image40.png" Type="http://schemas.openxmlformats.org/officeDocument/2006/relationships/image"/><Relationship Id="rId12" Target="../media/image41.png" Type="http://schemas.openxmlformats.org/officeDocument/2006/relationships/image"/><Relationship Id="rId2" Target="../media/image31.png" Type="http://schemas.openxmlformats.org/officeDocument/2006/relationships/image"/><Relationship Id="rId3" Target="../media/image32.png" Type="http://schemas.openxmlformats.org/officeDocument/2006/relationships/image"/><Relationship Id="rId4" Target="../media/image33.png" Type="http://schemas.openxmlformats.org/officeDocument/2006/relationships/image"/><Relationship Id="rId5" Target="../media/image34.png" Type="http://schemas.openxmlformats.org/officeDocument/2006/relationships/image"/><Relationship Id="rId6" Target="../media/image35.png" Type="http://schemas.openxmlformats.org/officeDocument/2006/relationships/image"/><Relationship Id="rId7" Target="../media/image36.png" Type="http://schemas.openxmlformats.org/officeDocument/2006/relationships/image"/><Relationship Id="rId8" Target="../media/image37.png" Type="http://schemas.openxmlformats.org/officeDocument/2006/relationships/image"/><Relationship Id="rId9" Target="../media/image3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0.png" Type="http://schemas.openxmlformats.org/officeDocument/2006/relationships/image"/><Relationship Id="rId11" Target="../media/image51.png" Type="http://schemas.openxmlformats.org/officeDocument/2006/relationships/image"/><Relationship Id="rId2" Target="../media/image42.png" Type="http://schemas.openxmlformats.org/officeDocument/2006/relationships/image"/><Relationship Id="rId3" Target="../media/image43.png" Type="http://schemas.openxmlformats.org/officeDocument/2006/relationships/image"/><Relationship Id="rId4" Target="../media/image44.png" Type="http://schemas.openxmlformats.org/officeDocument/2006/relationships/image"/><Relationship Id="rId5" Target="../media/image45.png" Type="http://schemas.openxmlformats.org/officeDocument/2006/relationships/image"/><Relationship Id="rId6" Target="../media/image46.png" Type="http://schemas.openxmlformats.org/officeDocument/2006/relationships/image"/><Relationship Id="rId7" Target="../media/image47.png" Type="http://schemas.openxmlformats.org/officeDocument/2006/relationships/image"/><Relationship Id="rId8" Target="../media/image48.png" Type="http://schemas.openxmlformats.org/officeDocument/2006/relationships/image"/><Relationship Id="rId9" Target="../media/image4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0.png" Type="http://schemas.openxmlformats.org/officeDocument/2006/relationships/image"/><Relationship Id="rId11" Target="../media/image61.png" Type="http://schemas.openxmlformats.org/officeDocument/2006/relationships/image"/><Relationship Id="rId12" Target="../media/image62.png" Type="http://schemas.openxmlformats.org/officeDocument/2006/relationships/image"/><Relationship Id="rId13" Target="../media/image63.png" Type="http://schemas.openxmlformats.org/officeDocument/2006/relationships/image"/><Relationship Id="rId14" Target="../media/image64.png" Type="http://schemas.openxmlformats.org/officeDocument/2006/relationships/image"/><Relationship Id="rId2" Target="../media/image52.png" Type="http://schemas.openxmlformats.org/officeDocument/2006/relationships/image"/><Relationship Id="rId3" Target="../media/image53.png" Type="http://schemas.openxmlformats.org/officeDocument/2006/relationships/image"/><Relationship Id="rId4" Target="../media/image54.png" Type="http://schemas.openxmlformats.org/officeDocument/2006/relationships/image"/><Relationship Id="rId5" Target="../media/image55.png" Type="http://schemas.openxmlformats.org/officeDocument/2006/relationships/image"/><Relationship Id="rId6" Target="../media/image56.png" Type="http://schemas.openxmlformats.org/officeDocument/2006/relationships/image"/><Relationship Id="rId7" Target="../media/image57.png" Type="http://schemas.openxmlformats.org/officeDocument/2006/relationships/image"/><Relationship Id="rId8" Target="../media/image58.png" Type="http://schemas.openxmlformats.org/officeDocument/2006/relationships/image"/><Relationship Id="rId9" Target="../media/image5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5.png" Type="http://schemas.openxmlformats.org/officeDocument/2006/relationships/image"/><Relationship Id="rId3" Target="../media/image66.png" Type="http://schemas.openxmlformats.org/officeDocument/2006/relationships/image"/><Relationship Id="rId4" Target="../media/image67.png" Type="http://schemas.openxmlformats.org/officeDocument/2006/relationships/image"/><Relationship Id="rId5" Target="../media/image68.png" Type="http://schemas.openxmlformats.org/officeDocument/2006/relationships/image"/><Relationship Id="rId6" Target="../media/image69.png" Type="http://schemas.openxmlformats.org/officeDocument/2006/relationships/image"/><Relationship Id="rId7" Target="../media/image7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1.png" Type="http://schemas.openxmlformats.org/officeDocument/2006/relationships/image"/><Relationship Id="rId3" Target="../media/image72.png" Type="http://schemas.openxmlformats.org/officeDocument/2006/relationships/image"/><Relationship Id="rId4" Target="../media/image73.png" Type="http://schemas.openxmlformats.org/officeDocument/2006/relationships/image"/><Relationship Id="rId5" Target="../media/image7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705850" y="1924050"/>
            <a:ext cx="1533525" cy="1076325"/>
          </a:xfrm>
          <a:custGeom>
            <a:avLst/>
            <a:gdLst/>
            <a:ahLst/>
            <a:cxnLst/>
            <a:rect r="r" b="b" t="t" l="l"/>
            <a:pathLst>
              <a:path h="1076325" w="1533525">
                <a:moveTo>
                  <a:pt x="0" y="0"/>
                </a:moveTo>
                <a:lnTo>
                  <a:pt x="1533525" y="0"/>
                </a:lnTo>
                <a:lnTo>
                  <a:pt x="153352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448925" y="428625"/>
            <a:ext cx="1962150" cy="1933575"/>
          </a:xfrm>
          <a:custGeom>
            <a:avLst/>
            <a:gdLst/>
            <a:ahLst/>
            <a:cxnLst/>
            <a:rect r="r" b="b" t="t" l="l"/>
            <a:pathLst>
              <a:path h="1933575" w="1962150">
                <a:moveTo>
                  <a:pt x="0" y="0"/>
                </a:moveTo>
                <a:lnTo>
                  <a:pt x="1962150" y="0"/>
                </a:lnTo>
                <a:lnTo>
                  <a:pt x="1962150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925550" y="1285875"/>
            <a:ext cx="1104900" cy="1076325"/>
          </a:xfrm>
          <a:custGeom>
            <a:avLst/>
            <a:gdLst/>
            <a:ahLst/>
            <a:cxnLst/>
            <a:rect r="r" b="b" t="t" l="l"/>
            <a:pathLst>
              <a:path h="1076325" w="1104900">
                <a:moveTo>
                  <a:pt x="0" y="0"/>
                </a:moveTo>
                <a:lnTo>
                  <a:pt x="1104900" y="0"/>
                </a:lnTo>
                <a:lnTo>
                  <a:pt x="11049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668625" y="1924050"/>
            <a:ext cx="1095375" cy="1076325"/>
          </a:xfrm>
          <a:custGeom>
            <a:avLst/>
            <a:gdLst/>
            <a:ahLst/>
            <a:cxnLst/>
            <a:rect r="r" b="b" t="t" l="l"/>
            <a:pathLst>
              <a:path h="1076325" w="1095375">
                <a:moveTo>
                  <a:pt x="0" y="0"/>
                </a:moveTo>
                <a:lnTo>
                  <a:pt x="1095375" y="0"/>
                </a:lnTo>
                <a:lnTo>
                  <a:pt x="10953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68096" y="1654501"/>
            <a:ext cx="7223760" cy="2948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76"/>
              </a:lnSpc>
            </a:pPr>
            <a:r>
              <a:rPr lang="en-US" sz="7241" spc="-144" b="true">
                <a:solidFill>
                  <a:srgbClr val="FFFFFF"/>
                </a:solidFill>
                <a:latin typeface="Bricolage Grotesque Ultra-Bold"/>
                <a:ea typeface="Bricolage Grotesque Ultra-Bold"/>
                <a:cs typeface="Bricolage Grotesque Ultra-Bold"/>
                <a:sym typeface="Bricolage Grotesque Ultra-Bold"/>
              </a:rPr>
              <a:t>Students Performance Analysis System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647700" y="5143500"/>
            <a:ext cx="1752600" cy="219075"/>
          </a:xfrm>
          <a:custGeom>
            <a:avLst/>
            <a:gdLst/>
            <a:ahLst/>
            <a:cxnLst/>
            <a:rect r="r" b="b" t="t" l="l"/>
            <a:pathLst>
              <a:path h="219075" w="1752600">
                <a:moveTo>
                  <a:pt x="0" y="0"/>
                </a:moveTo>
                <a:lnTo>
                  <a:pt x="1752600" y="0"/>
                </a:lnTo>
                <a:lnTo>
                  <a:pt x="17526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768096" y="5665329"/>
            <a:ext cx="4626864" cy="557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64"/>
              </a:lnSpc>
            </a:pPr>
            <a:r>
              <a:rPr lang="en-US" sz="4023" spc="-80" b="true">
                <a:solidFill>
                  <a:srgbClr val="38B6FF"/>
                </a:solidFill>
                <a:latin typeface="Roboto Bold"/>
                <a:ea typeface="Roboto Bold"/>
                <a:cs typeface="Roboto Bold"/>
                <a:sym typeface="Roboto Bold"/>
              </a:rPr>
              <a:t>Project Presentation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68096" y="6967921"/>
            <a:ext cx="1865376" cy="397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6"/>
              </a:lnSpc>
            </a:pPr>
            <a:r>
              <a:rPr lang="en-US" sz="2340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Presented by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68096" y="7534644"/>
            <a:ext cx="6035040" cy="4473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4"/>
              </a:lnSpc>
            </a:pPr>
            <a:r>
              <a:rPr lang="en-US" sz="2639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Baranika, Girija Shree, Jasmitha, Kajasri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647700" y="8143875"/>
            <a:ext cx="666750" cy="857250"/>
          </a:xfrm>
          <a:custGeom>
            <a:avLst/>
            <a:gdLst/>
            <a:ahLst/>
            <a:cxnLst/>
            <a:rect r="r" b="b" t="t" l="l"/>
            <a:pathLst>
              <a:path h="857250" w="666750">
                <a:moveTo>
                  <a:pt x="0" y="0"/>
                </a:moveTo>
                <a:lnTo>
                  <a:pt x="666750" y="0"/>
                </a:lnTo>
                <a:lnTo>
                  <a:pt x="66675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426464" y="8367891"/>
            <a:ext cx="2999232" cy="4473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4"/>
              </a:lnSpc>
            </a:pPr>
            <a:r>
              <a:rPr lang="en-US" sz="2639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September 11, 2026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7181850" y="2781300"/>
            <a:ext cx="10677525" cy="6438900"/>
          </a:xfrm>
          <a:custGeom>
            <a:avLst/>
            <a:gdLst/>
            <a:ahLst/>
            <a:cxnLst/>
            <a:rect r="r" b="b" t="t" l="l"/>
            <a:pathLst>
              <a:path h="6438900" w="10677525">
                <a:moveTo>
                  <a:pt x="0" y="0"/>
                </a:moveTo>
                <a:lnTo>
                  <a:pt x="10677525" y="0"/>
                </a:lnTo>
                <a:lnTo>
                  <a:pt x="10677525" y="6438900"/>
                </a:lnTo>
                <a:lnTo>
                  <a:pt x="0" y="64389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2192000" y="8143875"/>
            <a:ext cx="6096000" cy="2143125"/>
          </a:xfrm>
          <a:custGeom>
            <a:avLst/>
            <a:gdLst/>
            <a:ahLst/>
            <a:cxnLst/>
            <a:rect r="r" b="b" t="t" l="l"/>
            <a:pathLst>
              <a:path h="2143125" w="6096000">
                <a:moveTo>
                  <a:pt x="0" y="0"/>
                </a:moveTo>
                <a:lnTo>
                  <a:pt x="6096000" y="0"/>
                </a:lnTo>
                <a:lnTo>
                  <a:pt x="6096000" y="2143125"/>
                </a:lnTo>
                <a:lnTo>
                  <a:pt x="0" y="214312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4582775" y="8782050"/>
            <a:ext cx="3495675" cy="1076325"/>
          </a:xfrm>
          <a:custGeom>
            <a:avLst/>
            <a:gdLst/>
            <a:ahLst/>
            <a:cxnLst/>
            <a:rect r="r" b="b" t="t" l="l"/>
            <a:pathLst>
              <a:path h="1076325" w="3495675">
                <a:moveTo>
                  <a:pt x="0" y="0"/>
                </a:moveTo>
                <a:lnTo>
                  <a:pt x="3495675" y="0"/>
                </a:lnTo>
                <a:lnTo>
                  <a:pt x="34956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0668000" cy="10287000"/>
          </a:xfrm>
          <a:custGeom>
            <a:avLst/>
            <a:gdLst/>
            <a:ahLst/>
            <a:cxnLst/>
            <a:rect r="r" b="b" t="t" l="l"/>
            <a:pathLst>
              <a:path h="10287000" w="10668000">
                <a:moveTo>
                  <a:pt x="0" y="0"/>
                </a:moveTo>
                <a:lnTo>
                  <a:pt x="10668000" y="0"/>
                </a:lnTo>
                <a:lnTo>
                  <a:pt x="1066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49808" y="1259776"/>
            <a:ext cx="5266944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83"/>
              </a:lnSpc>
            </a:pPr>
            <a:r>
              <a:rPr lang="en-US" sz="6735" b="true">
                <a:solidFill>
                  <a:srgbClr val="FFFFFF"/>
                </a:solidFill>
                <a:latin typeface="Bricolage Grotesque Ultra-Bold"/>
                <a:ea typeface="Bricolage Grotesque Ultra-Bold"/>
                <a:cs typeface="Bricolage Grotesque Ultra-Bold"/>
                <a:sym typeface="Bricolage Grotesque Ultra-Bold"/>
              </a:rPr>
              <a:t>Introduction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49808" y="2268855"/>
            <a:ext cx="5907024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54"/>
              </a:lnSpc>
            </a:pPr>
            <a:r>
              <a:rPr lang="en-US" sz="2962" b="true">
                <a:solidFill>
                  <a:srgbClr val="38B6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What is the Students Performance Analysis System?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647700" y="3209925"/>
            <a:ext cx="1971675" cy="438150"/>
          </a:xfrm>
          <a:custGeom>
            <a:avLst/>
            <a:gdLst/>
            <a:ahLst/>
            <a:cxnLst/>
            <a:rect r="r" b="b" t="t" l="l"/>
            <a:pathLst>
              <a:path h="438150" w="1971675">
                <a:moveTo>
                  <a:pt x="0" y="0"/>
                </a:moveTo>
                <a:lnTo>
                  <a:pt x="1971675" y="0"/>
                </a:lnTo>
                <a:lnTo>
                  <a:pt x="197167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49808" y="3798391"/>
            <a:ext cx="5907024" cy="1170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3"/>
              </a:lnSpc>
            </a:pPr>
            <a:r>
              <a:rPr lang="en-US" sz="237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 smart platform that monitors and analyzes </a:t>
            </a:r>
            <a:r>
              <a:rPr lang="en-US" sz="2371" b="true">
                <a:solidFill>
                  <a:srgbClr val="38B6FF"/>
                </a:solidFill>
                <a:latin typeface="Roboto Bold"/>
                <a:ea typeface="Roboto Bold"/>
                <a:cs typeface="Roboto Bold"/>
                <a:sym typeface="Roboto Bold"/>
              </a:rPr>
              <a:t>student performance</a:t>
            </a:r>
            <a:r>
              <a:rPr lang="en-US" sz="237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to drive better academic outcomes.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49808" y="5381815"/>
            <a:ext cx="4553712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8"/>
              </a:lnSpc>
            </a:pPr>
            <a:r>
              <a:rPr lang="en-US" sz="219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Tracks marks, attendance, strengths, weaknesses, and overall progress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49808" y="6371082"/>
            <a:ext cx="5449824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7"/>
              </a:lnSpc>
            </a:pPr>
            <a:r>
              <a:rPr lang="en-US" sz="217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Centralizes student data for easy monitoring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49808" y="7038785"/>
            <a:ext cx="5138928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7"/>
              </a:lnSpc>
            </a:pPr>
            <a:r>
              <a:rPr lang="en-US" sz="229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Provides clear insights for timely support and informed decisions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49808" y="8046149"/>
            <a:ext cx="4590288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</a:pPr>
            <a:r>
              <a:rPr lang="en-US" sz="2217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Empowers teachers, students, and institutions to achieve more together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5876925" y="0"/>
            <a:ext cx="4791075" cy="10287000"/>
          </a:xfrm>
          <a:custGeom>
            <a:avLst/>
            <a:gdLst/>
            <a:ahLst/>
            <a:cxnLst/>
            <a:rect r="r" b="b" t="t" l="l"/>
            <a:pathLst>
              <a:path h="10287000" w="4791075">
                <a:moveTo>
                  <a:pt x="0" y="0"/>
                </a:moveTo>
                <a:lnTo>
                  <a:pt x="4791075" y="0"/>
                </a:lnTo>
                <a:lnTo>
                  <a:pt x="479107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7181850" y="1495425"/>
            <a:ext cx="11106150" cy="7934325"/>
          </a:xfrm>
          <a:custGeom>
            <a:avLst/>
            <a:gdLst/>
            <a:ahLst/>
            <a:cxnLst/>
            <a:rect r="r" b="b" t="t" l="l"/>
            <a:pathLst>
              <a:path h="7934325" w="11106150">
                <a:moveTo>
                  <a:pt x="0" y="0"/>
                </a:moveTo>
                <a:lnTo>
                  <a:pt x="11106150" y="0"/>
                </a:lnTo>
                <a:lnTo>
                  <a:pt x="11106150" y="7934325"/>
                </a:lnTo>
                <a:lnTo>
                  <a:pt x="0" y="79343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3277850" y="8572500"/>
            <a:ext cx="5010150" cy="1714500"/>
          </a:xfrm>
          <a:custGeom>
            <a:avLst/>
            <a:gdLst/>
            <a:ahLst/>
            <a:cxnLst/>
            <a:rect r="r" b="b" t="t" l="l"/>
            <a:pathLst>
              <a:path h="1714500" w="5010150">
                <a:moveTo>
                  <a:pt x="0" y="0"/>
                </a:moveTo>
                <a:lnTo>
                  <a:pt x="5010150" y="0"/>
                </a:lnTo>
                <a:lnTo>
                  <a:pt x="5010150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486775" y="0"/>
            <a:ext cx="4143375" cy="10287000"/>
          </a:xfrm>
          <a:custGeom>
            <a:avLst/>
            <a:gdLst/>
            <a:ahLst/>
            <a:cxnLst/>
            <a:rect r="r" b="b" t="t" l="l"/>
            <a:pathLst>
              <a:path h="10287000" w="4143375">
                <a:moveTo>
                  <a:pt x="0" y="0"/>
                </a:moveTo>
                <a:lnTo>
                  <a:pt x="4143375" y="0"/>
                </a:lnTo>
                <a:lnTo>
                  <a:pt x="414337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49808" y="1165675"/>
            <a:ext cx="5266944" cy="940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19"/>
              </a:lnSpc>
            </a:pPr>
            <a:r>
              <a:rPr lang="en-US" sz="7019" b="true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Background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68096" y="2153412"/>
            <a:ext cx="7790688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9"/>
              </a:lnSpc>
            </a:pPr>
            <a:r>
              <a:rPr lang="en-US" sz="2775" b="true">
                <a:solidFill>
                  <a:srgbClr val="0085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multiple factors shape student performance and manual processes limit accurate insights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647700" y="3209925"/>
            <a:ext cx="1971675" cy="219075"/>
          </a:xfrm>
          <a:custGeom>
            <a:avLst/>
            <a:gdLst/>
            <a:ahLst/>
            <a:cxnLst/>
            <a:rect r="r" b="b" t="t" l="l"/>
            <a:pathLst>
              <a:path h="219075" w="1971675">
                <a:moveTo>
                  <a:pt x="0" y="0"/>
                </a:moveTo>
                <a:lnTo>
                  <a:pt x="1971675" y="0"/>
                </a:lnTo>
                <a:lnTo>
                  <a:pt x="197167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68096" y="3993261"/>
            <a:ext cx="6473952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2"/>
              </a:lnSpc>
            </a:pPr>
            <a:r>
              <a:rPr lang="en-US" b="true" sz="2043" spc="102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KEY FACTORS THAT INFLUENCE PERFORMANCE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68096" y="4788646"/>
            <a:ext cx="512064" cy="479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6"/>
              </a:lnSpc>
            </a:pPr>
            <a:r>
              <a:rPr lang="en-US" sz="3506" b="true">
                <a:solidFill>
                  <a:srgbClr val="0085FF"/>
                </a:solidFill>
                <a:latin typeface="Roboto Bold"/>
                <a:ea typeface="Roboto Bold"/>
                <a:cs typeface="Roboto Bold"/>
                <a:sym typeface="Roboto Bold"/>
              </a:rPr>
              <a:t>01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37360" y="4833175"/>
            <a:ext cx="1572768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87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Attendance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647700" y="5353050"/>
            <a:ext cx="4581525" cy="219075"/>
          </a:xfrm>
          <a:custGeom>
            <a:avLst/>
            <a:gdLst/>
            <a:ahLst/>
            <a:cxnLst/>
            <a:rect r="r" b="b" t="t" l="l"/>
            <a:pathLst>
              <a:path h="219075" w="4581525">
                <a:moveTo>
                  <a:pt x="0" y="0"/>
                </a:moveTo>
                <a:lnTo>
                  <a:pt x="4581525" y="0"/>
                </a:lnTo>
                <a:lnTo>
                  <a:pt x="458152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737360" y="5738432"/>
            <a:ext cx="2596896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87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Examination marks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647700" y="6210300"/>
            <a:ext cx="4581525" cy="219075"/>
          </a:xfrm>
          <a:custGeom>
            <a:avLst/>
            <a:gdLst/>
            <a:ahLst/>
            <a:cxnLst/>
            <a:rect r="r" b="b" t="t" l="l"/>
            <a:pathLst>
              <a:path h="219075" w="4581525">
                <a:moveTo>
                  <a:pt x="0" y="0"/>
                </a:moveTo>
                <a:lnTo>
                  <a:pt x="4581525" y="0"/>
                </a:lnTo>
                <a:lnTo>
                  <a:pt x="458152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768096" y="6599158"/>
            <a:ext cx="512064" cy="479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6"/>
              </a:lnSpc>
            </a:pPr>
            <a:r>
              <a:rPr lang="en-US" sz="3506" b="true">
                <a:solidFill>
                  <a:srgbClr val="0085FF"/>
                </a:solidFill>
                <a:latin typeface="Roboto Bold"/>
                <a:ea typeface="Roboto Bold"/>
                <a:cs typeface="Roboto Bold"/>
                <a:sym typeface="Roboto Bold"/>
              </a:rPr>
              <a:t>03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37360" y="6653975"/>
            <a:ext cx="1773936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87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Assignments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647700" y="7067550"/>
            <a:ext cx="4581525" cy="219075"/>
          </a:xfrm>
          <a:custGeom>
            <a:avLst/>
            <a:gdLst/>
            <a:ahLst/>
            <a:cxnLst/>
            <a:rect r="r" b="b" t="t" l="l"/>
            <a:pathLst>
              <a:path h="219075" w="4581525">
                <a:moveTo>
                  <a:pt x="0" y="0"/>
                </a:moveTo>
                <a:lnTo>
                  <a:pt x="4581525" y="0"/>
                </a:lnTo>
                <a:lnTo>
                  <a:pt x="458152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68096" y="7514701"/>
            <a:ext cx="512064" cy="479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6"/>
              </a:lnSpc>
            </a:pPr>
            <a:r>
              <a:rPr lang="en-US" sz="3506" b="true">
                <a:solidFill>
                  <a:srgbClr val="0085FF"/>
                </a:solidFill>
                <a:latin typeface="Roboto Bold"/>
                <a:ea typeface="Roboto Bold"/>
                <a:cs typeface="Roboto Bold"/>
                <a:sym typeface="Roboto Bold"/>
              </a:rPr>
              <a:t>04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737360" y="7559230"/>
            <a:ext cx="1719072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1"/>
              </a:lnSpc>
            </a:pPr>
            <a:r>
              <a:rPr lang="en-US" sz="2259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Participation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647700" y="7924800"/>
            <a:ext cx="4581525" cy="438150"/>
          </a:xfrm>
          <a:custGeom>
            <a:avLst/>
            <a:gdLst/>
            <a:ahLst/>
            <a:cxnLst/>
            <a:rect r="r" b="b" t="t" l="l"/>
            <a:pathLst>
              <a:path h="438150" w="4581525">
                <a:moveTo>
                  <a:pt x="0" y="0"/>
                </a:moveTo>
                <a:lnTo>
                  <a:pt x="4581525" y="0"/>
                </a:lnTo>
                <a:lnTo>
                  <a:pt x="458152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737360" y="8464486"/>
            <a:ext cx="2084832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87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Learning habits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5657850" y="4714875"/>
            <a:ext cx="228600" cy="4505325"/>
          </a:xfrm>
          <a:custGeom>
            <a:avLst/>
            <a:gdLst/>
            <a:ahLst/>
            <a:cxnLst/>
            <a:rect r="r" b="b" t="t" l="l"/>
            <a:pathLst>
              <a:path h="4505325" w="228600">
                <a:moveTo>
                  <a:pt x="0" y="0"/>
                </a:moveTo>
                <a:lnTo>
                  <a:pt x="228600" y="0"/>
                </a:lnTo>
                <a:lnTo>
                  <a:pt x="228600" y="4505325"/>
                </a:lnTo>
                <a:lnTo>
                  <a:pt x="0" y="450532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6254496" y="4743807"/>
            <a:ext cx="2432304" cy="709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2053" b="true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LIMITATIONS OF MANUAL ANALYSIS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254496" y="5782348"/>
            <a:ext cx="2962656" cy="701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5"/>
              </a:lnSpc>
            </a:pPr>
            <a:r>
              <a:rPr lang="en-US" sz="2017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time-consuming processes delay insights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6096000" y="6638925"/>
            <a:ext cx="3267075" cy="219075"/>
          </a:xfrm>
          <a:custGeom>
            <a:avLst/>
            <a:gdLst/>
            <a:ahLst/>
            <a:cxnLst/>
            <a:rect r="r" b="b" t="t" l="l"/>
            <a:pathLst>
              <a:path h="219075" w="3267075">
                <a:moveTo>
                  <a:pt x="0" y="0"/>
                </a:moveTo>
                <a:lnTo>
                  <a:pt x="3267075" y="0"/>
                </a:lnTo>
                <a:lnTo>
                  <a:pt x="326707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6254496" y="6957572"/>
            <a:ext cx="2816352" cy="737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3"/>
              </a:lnSpc>
            </a:pPr>
            <a:r>
              <a:rPr lang="en-US" sz="2095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prone to human errors and inconsistencies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6096000" y="7715250"/>
            <a:ext cx="3267075" cy="219075"/>
          </a:xfrm>
          <a:custGeom>
            <a:avLst/>
            <a:gdLst/>
            <a:ahLst/>
            <a:cxnLst/>
            <a:rect r="r" b="b" t="t" l="l"/>
            <a:pathLst>
              <a:path h="219075" w="3267075">
                <a:moveTo>
                  <a:pt x="0" y="0"/>
                </a:moveTo>
                <a:lnTo>
                  <a:pt x="3267075" y="0"/>
                </a:lnTo>
                <a:lnTo>
                  <a:pt x="326707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6254496" y="8178921"/>
            <a:ext cx="2596896" cy="1071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7"/>
              </a:lnSpc>
            </a:pPr>
            <a:r>
              <a:rPr lang="en-US" sz="2069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makes it harder to identify patterns and take timely action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68096" y="5693902"/>
            <a:ext cx="512064" cy="479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6"/>
              </a:lnSpc>
            </a:pPr>
            <a:r>
              <a:rPr lang="en-US" sz="3506" b="true">
                <a:solidFill>
                  <a:srgbClr val="0085FF"/>
                </a:solidFill>
                <a:latin typeface="Roboto Bold"/>
                <a:ea typeface="Roboto Bold"/>
                <a:cs typeface="Roboto Bold"/>
                <a:sym typeface="Roboto Bold"/>
              </a:rPr>
              <a:t>02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68096" y="8419957"/>
            <a:ext cx="512064" cy="479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6"/>
              </a:lnSpc>
            </a:pPr>
            <a:r>
              <a:rPr lang="en-US" sz="3506" b="true">
                <a:solidFill>
                  <a:srgbClr val="0085FF"/>
                </a:solidFill>
                <a:latin typeface="Roboto Bold"/>
                <a:ea typeface="Roboto Bold"/>
                <a:cs typeface="Roboto Bold"/>
                <a:sym typeface="Roboto Bold"/>
              </a:rPr>
              <a:t>05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962775" y="0"/>
            <a:ext cx="11325225" cy="10287000"/>
          </a:xfrm>
          <a:custGeom>
            <a:avLst/>
            <a:gdLst/>
            <a:ahLst/>
            <a:cxnLst/>
            <a:rect r="r" b="b" t="t" l="l"/>
            <a:pathLst>
              <a:path h="10287000" w="11325225">
                <a:moveTo>
                  <a:pt x="0" y="0"/>
                </a:moveTo>
                <a:lnTo>
                  <a:pt x="11325225" y="0"/>
                </a:lnTo>
                <a:lnTo>
                  <a:pt x="1132522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0"/>
            <a:ext cx="10668000" cy="10287000"/>
          </a:xfrm>
          <a:custGeom>
            <a:avLst/>
            <a:gdLst/>
            <a:ahLst/>
            <a:cxnLst/>
            <a:rect r="r" b="b" t="t" l="l"/>
            <a:pathLst>
              <a:path h="10287000" w="10668000">
                <a:moveTo>
                  <a:pt x="0" y="0"/>
                </a:moveTo>
                <a:lnTo>
                  <a:pt x="10668000" y="0"/>
                </a:lnTo>
                <a:lnTo>
                  <a:pt x="1066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950976" y="1624093"/>
            <a:ext cx="5193792" cy="2051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27"/>
              </a:lnSpc>
            </a:pPr>
            <a:r>
              <a:rPr lang="en-US" sz="8585" spc="-343" b="true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Problem Statement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866775" y="3857625"/>
            <a:ext cx="1752600" cy="219075"/>
          </a:xfrm>
          <a:custGeom>
            <a:avLst/>
            <a:gdLst/>
            <a:ahLst/>
            <a:cxnLst/>
            <a:rect r="r" b="b" t="t" l="l"/>
            <a:pathLst>
              <a:path h="219075" w="1752600">
                <a:moveTo>
                  <a:pt x="0" y="0"/>
                </a:moveTo>
                <a:lnTo>
                  <a:pt x="1752600" y="0"/>
                </a:lnTo>
                <a:lnTo>
                  <a:pt x="17526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69264" y="4419177"/>
            <a:ext cx="5303520" cy="887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6"/>
              </a:lnSpc>
            </a:pPr>
            <a:r>
              <a:rPr lang="en-US" sz="256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Tracking individual </a:t>
            </a:r>
            <a:r>
              <a:rPr lang="en-US" sz="2561" b="true">
                <a:solidFill>
                  <a:srgbClr val="00A1FF"/>
                </a:solidFill>
                <a:latin typeface="Roboto Bold"/>
                <a:ea typeface="Roboto Bold"/>
                <a:cs typeface="Roboto Bold"/>
                <a:sym typeface="Roboto Bold"/>
              </a:rPr>
              <a:t>student progress</a:t>
            </a:r>
            <a:r>
              <a:rPr lang="en-US" sz="256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is difficult and inconsistent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69264" y="6091249"/>
            <a:ext cx="6016752" cy="257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0"/>
              </a:lnSpc>
            </a:pPr>
            <a:r>
              <a:rPr lang="en-US" sz="148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Manual </a:t>
            </a:r>
            <a:r>
              <a:rPr lang="en-US" sz="1485" b="true">
                <a:solidFill>
                  <a:srgbClr val="00A1FF"/>
                </a:solidFill>
                <a:latin typeface="Roboto Bold"/>
                <a:ea typeface="Roboto Bold"/>
                <a:cs typeface="Roboto Bold"/>
                <a:sym typeface="Roboto Bold"/>
              </a:rPr>
              <a:t>analysis</a:t>
            </a:r>
            <a:r>
              <a:rPr lang="en-US" sz="148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of marks and attendance is inefficient and error-prone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69264" y="7132618"/>
            <a:ext cx="5010912" cy="86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7"/>
              </a:lnSpc>
            </a:pPr>
            <a:r>
              <a:rPr lang="en-US" sz="249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Identifying students who need academic support happens </a:t>
            </a:r>
            <a:r>
              <a:rPr lang="en-US" sz="2498" b="true">
                <a:solidFill>
                  <a:srgbClr val="00A1FF"/>
                </a:solidFill>
                <a:latin typeface="Roboto Bold"/>
                <a:ea typeface="Roboto Bold"/>
                <a:cs typeface="Roboto Bold"/>
                <a:sym typeface="Roboto Bold"/>
              </a:rPr>
              <a:t>too late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69264" y="8443660"/>
            <a:ext cx="6035040" cy="440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42"/>
              </a:lnSpc>
            </a:pPr>
            <a:r>
              <a:rPr lang="en-US" sz="253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Fragmented data leads to </a:t>
            </a:r>
            <a:r>
              <a:rPr lang="en-US" sz="2530" b="true">
                <a:solidFill>
                  <a:srgbClr val="00A1FF"/>
                </a:solidFill>
                <a:latin typeface="Roboto Bold"/>
                <a:ea typeface="Roboto Bold"/>
                <a:cs typeface="Roboto Bold"/>
                <a:sym typeface="Roboto Bold"/>
              </a:rPr>
              <a:t>unclear insights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21792" y="571293"/>
            <a:ext cx="5925312" cy="1260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96"/>
              </a:lnSpc>
            </a:pPr>
            <a:r>
              <a:rPr lang="en-US" sz="9496" spc="-189" b="true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Objectives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428625" y="1924050"/>
            <a:ext cx="1533525" cy="219075"/>
          </a:xfrm>
          <a:custGeom>
            <a:avLst/>
            <a:gdLst/>
            <a:ahLst/>
            <a:cxnLst/>
            <a:rect r="r" b="b" t="t" l="l"/>
            <a:pathLst>
              <a:path h="219075" w="1533525">
                <a:moveTo>
                  <a:pt x="0" y="0"/>
                </a:moveTo>
                <a:lnTo>
                  <a:pt x="1533525" y="0"/>
                </a:lnTo>
                <a:lnTo>
                  <a:pt x="153352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21792" y="2116169"/>
            <a:ext cx="9491472" cy="515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7"/>
              </a:lnSpc>
            </a:pPr>
            <a:r>
              <a:rPr lang="en-US" sz="2962" b="true">
                <a:solidFill>
                  <a:srgbClr val="38B6FF"/>
                </a:solidFill>
                <a:latin typeface="Roboto Bold"/>
                <a:ea typeface="Roboto Bold"/>
                <a:cs typeface="Roboto Bold"/>
                <a:sym typeface="Roboto Bold"/>
              </a:rPr>
              <a:t>Our goals for a smarter performance analysis system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428625" y="3209925"/>
            <a:ext cx="2409825" cy="1724025"/>
          </a:xfrm>
          <a:custGeom>
            <a:avLst/>
            <a:gdLst/>
            <a:ahLst/>
            <a:cxnLst/>
            <a:rect r="r" b="b" t="t" l="l"/>
            <a:pathLst>
              <a:path h="1724025" w="2409825">
                <a:moveTo>
                  <a:pt x="0" y="0"/>
                </a:moveTo>
                <a:lnTo>
                  <a:pt x="2409825" y="0"/>
                </a:lnTo>
                <a:lnTo>
                  <a:pt x="2409825" y="1724025"/>
                </a:lnTo>
                <a:lnTo>
                  <a:pt x="0" y="17240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85850" y="3429000"/>
            <a:ext cx="1314450" cy="1285875"/>
          </a:xfrm>
          <a:custGeom>
            <a:avLst/>
            <a:gdLst/>
            <a:ahLst/>
            <a:cxnLst/>
            <a:rect r="r" b="b" t="t" l="l"/>
            <a:pathLst>
              <a:path h="1285875" w="1314450">
                <a:moveTo>
                  <a:pt x="0" y="0"/>
                </a:moveTo>
                <a:lnTo>
                  <a:pt x="1314450" y="0"/>
                </a:lnTo>
                <a:lnTo>
                  <a:pt x="131445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255264" y="3497690"/>
            <a:ext cx="5084064" cy="1002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44"/>
              </a:lnSpc>
            </a:pPr>
            <a:r>
              <a:rPr lang="en-US" sz="288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Analyze and monitor academic performance effectively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428625" y="4714875"/>
            <a:ext cx="2409825" cy="1933575"/>
          </a:xfrm>
          <a:custGeom>
            <a:avLst/>
            <a:gdLst/>
            <a:ahLst/>
            <a:cxnLst/>
            <a:rect r="r" b="b" t="t" l="l"/>
            <a:pathLst>
              <a:path h="1933575" w="2409825">
                <a:moveTo>
                  <a:pt x="0" y="0"/>
                </a:moveTo>
                <a:lnTo>
                  <a:pt x="2409825" y="0"/>
                </a:lnTo>
                <a:lnTo>
                  <a:pt x="2409825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85850" y="5143500"/>
            <a:ext cx="1314450" cy="1076325"/>
          </a:xfrm>
          <a:custGeom>
            <a:avLst/>
            <a:gdLst/>
            <a:ahLst/>
            <a:cxnLst/>
            <a:rect r="r" b="b" t="t" l="l"/>
            <a:pathLst>
              <a:path h="1076325" w="1314450">
                <a:moveTo>
                  <a:pt x="0" y="0"/>
                </a:moveTo>
                <a:lnTo>
                  <a:pt x="1314450" y="0"/>
                </a:lnTo>
                <a:lnTo>
                  <a:pt x="131445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255264" y="5174471"/>
            <a:ext cx="6181344" cy="1002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44"/>
              </a:lnSpc>
            </a:pPr>
            <a:r>
              <a:rPr lang="en-US" sz="288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Identify students’ strengths, weaknesses, and improvement areas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428625" y="6429375"/>
            <a:ext cx="2409825" cy="1933575"/>
          </a:xfrm>
          <a:custGeom>
            <a:avLst/>
            <a:gdLst/>
            <a:ahLst/>
            <a:cxnLst/>
            <a:rect r="r" b="b" t="t" l="l"/>
            <a:pathLst>
              <a:path h="1933575" w="2409825">
                <a:moveTo>
                  <a:pt x="0" y="0"/>
                </a:moveTo>
                <a:lnTo>
                  <a:pt x="2409825" y="0"/>
                </a:lnTo>
                <a:lnTo>
                  <a:pt x="2409825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085850" y="6858000"/>
            <a:ext cx="1314450" cy="1076325"/>
          </a:xfrm>
          <a:custGeom>
            <a:avLst/>
            <a:gdLst/>
            <a:ahLst/>
            <a:cxnLst/>
            <a:rect r="r" b="b" t="t" l="l"/>
            <a:pathLst>
              <a:path h="1076325" w="1314450">
                <a:moveTo>
                  <a:pt x="0" y="0"/>
                </a:moveTo>
                <a:lnTo>
                  <a:pt x="1314450" y="0"/>
                </a:lnTo>
                <a:lnTo>
                  <a:pt x="131445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3255264" y="6851252"/>
            <a:ext cx="4956048" cy="1002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44"/>
              </a:lnSpc>
            </a:pPr>
            <a:r>
              <a:rPr lang="en-US" sz="288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Assist teachers in making informed academic decisions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428625" y="8143875"/>
            <a:ext cx="2409825" cy="1714500"/>
          </a:xfrm>
          <a:custGeom>
            <a:avLst/>
            <a:gdLst/>
            <a:ahLst/>
            <a:cxnLst/>
            <a:rect r="r" b="b" t="t" l="l"/>
            <a:pathLst>
              <a:path h="1714500" w="2409825">
                <a:moveTo>
                  <a:pt x="0" y="0"/>
                </a:moveTo>
                <a:lnTo>
                  <a:pt x="2409825" y="0"/>
                </a:lnTo>
                <a:lnTo>
                  <a:pt x="2409825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085850" y="8353425"/>
            <a:ext cx="1314450" cy="1295400"/>
          </a:xfrm>
          <a:custGeom>
            <a:avLst/>
            <a:gdLst/>
            <a:ahLst/>
            <a:cxnLst/>
            <a:rect r="r" b="b" t="t" l="l"/>
            <a:pathLst>
              <a:path h="1295400" w="1314450">
                <a:moveTo>
                  <a:pt x="0" y="0"/>
                </a:moveTo>
                <a:lnTo>
                  <a:pt x="1314450" y="0"/>
                </a:lnTo>
                <a:lnTo>
                  <a:pt x="131445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3255264" y="8507459"/>
            <a:ext cx="5705856" cy="1002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44"/>
              </a:lnSpc>
            </a:pPr>
            <a:r>
              <a:rPr lang="en-US" sz="288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Empower data-driven actions for better learning outcomes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0877550" y="1495425"/>
            <a:ext cx="7410450" cy="8362950"/>
          </a:xfrm>
          <a:custGeom>
            <a:avLst/>
            <a:gdLst/>
            <a:ahLst/>
            <a:cxnLst/>
            <a:rect r="r" b="b" t="t" l="l"/>
            <a:pathLst>
              <a:path h="8362950" w="7410450">
                <a:moveTo>
                  <a:pt x="0" y="0"/>
                </a:moveTo>
                <a:lnTo>
                  <a:pt x="7410450" y="0"/>
                </a:lnTo>
                <a:lnTo>
                  <a:pt x="7410450" y="8362950"/>
                </a:lnTo>
                <a:lnTo>
                  <a:pt x="0" y="836295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40080" y="1228344"/>
            <a:ext cx="5779008" cy="1133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35"/>
              </a:lnSpc>
            </a:pPr>
            <a:r>
              <a:rPr lang="en-US" sz="7446" spc="-223" b="true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Methodology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40080" y="2464019"/>
            <a:ext cx="7333488" cy="1045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22"/>
              </a:lnSpc>
            </a:pPr>
            <a:r>
              <a:rPr lang="en-US" sz="2814" spc="-84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 structured process that turns </a:t>
            </a:r>
            <a:r>
              <a:rPr lang="en-US" sz="2814" spc="-84" b="true">
                <a:solidFill>
                  <a:srgbClr val="0079F4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student data</a:t>
            </a:r>
            <a:r>
              <a:rPr lang="en-US" sz="2814" spc="-84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into </a:t>
            </a:r>
            <a:r>
              <a:rPr lang="en-US" sz="2814" spc="-84" b="true">
                <a:solidFill>
                  <a:srgbClr val="0079F4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meaningful performance insights.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428625" y="3857625"/>
            <a:ext cx="2190750" cy="219075"/>
          </a:xfrm>
          <a:custGeom>
            <a:avLst/>
            <a:gdLst/>
            <a:ahLst/>
            <a:cxnLst/>
            <a:rect r="r" b="b" t="t" l="l"/>
            <a:pathLst>
              <a:path h="219075" w="2190750">
                <a:moveTo>
                  <a:pt x="0" y="0"/>
                </a:moveTo>
                <a:lnTo>
                  <a:pt x="2190750" y="0"/>
                </a:lnTo>
                <a:lnTo>
                  <a:pt x="21907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47700" y="4924425"/>
            <a:ext cx="5667375" cy="3438525"/>
          </a:xfrm>
          <a:custGeom>
            <a:avLst/>
            <a:gdLst/>
            <a:ahLst/>
            <a:cxnLst/>
            <a:rect r="r" b="b" t="t" l="l"/>
            <a:pathLst>
              <a:path h="3438525" w="5667375">
                <a:moveTo>
                  <a:pt x="0" y="0"/>
                </a:moveTo>
                <a:lnTo>
                  <a:pt x="5667375" y="0"/>
                </a:lnTo>
                <a:lnTo>
                  <a:pt x="5667375" y="3438525"/>
                </a:lnTo>
                <a:lnTo>
                  <a:pt x="0" y="34385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096000" y="6429375"/>
            <a:ext cx="876300" cy="428625"/>
          </a:xfrm>
          <a:custGeom>
            <a:avLst/>
            <a:gdLst/>
            <a:ahLst/>
            <a:cxnLst/>
            <a:rect r="r" b="b" t="t" l="l"/>
            <a:pathLst>
              <a:path h="428625" w="876300">
                <a:moveTo>
                  <a:pt x="0" y="0"/>
                </a:moveTo>
                <a:lnTo>
                  <a:pt x="876300" y="0"/>
                </a:lnTo>
                <a:lnTo>
                  <a:pt x="87630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305550" y="4924425"/>
            <a:ext cx="5457825" cy="3438525"/>
          </a:xfrm>
          <a:custGeom>
            <a:avLst/>
            <a:gdLst/>
            <a:ahLst/>
            <a:cxnLst/>
            <a:rect r="r" b="b" t="t" l="l"/>
            <a:pathLst>
              <a:path h="3438525" w="5457825">
                <a:moveTo>
                  <a:pt x="0" y="0"/>
                </a:moveTo>
                <a:lnTo>
                  <a:pt x="5457825" y="0"/>
                </a:lnTo>
                <a:lnTo>
                  <a:pt x="5457825" y="3438525"/>
                </a:lnTo>
                <a:lnTo>
                  <a:pt x="0" y="34385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534775" y="6429375"/>
            <a:ext cx="1095375" cy="428625"/>
          </a:xfrm>
          <a:custGeom>
            <a:avLst/>
            <a:gdLst/>
            <a:ahLst/>
            <a:cxnLst/>
            <a:rect r="r" b="b" t="t" l="l"/>
            <a:pathLst>
              <a:path h="428625" w="1095375">
                <a:moveTo>
                  <a:pt x="0" y="0"/>
                </a:moveTo>
                <a:lnTo>
                  <a:pt x="1095375" y="0"/>
                </a:lnTo>
                <a:lnTo>
                  <a:pt x="109537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1972925" y="4924425"/>
            <a:ext cx="5667375" cy="3438525"/>
          </a:xfrm>
          <a:custGeom>
            <a:avLst/>
            <a:gdLst/>
            <a:ahLst/>
            <a:cxnLst/>
            <a:rect r="r" b="b" t="t" l="l"/>
            <a:pathLst>
              <a:path h="3438525" w="5667375">
                <a:moveTo>
                  <a:pt x="0" y="0"/>
                </a:moveTo>
                <a:lnTo>
                  <a:pt x="5667375" y="0"/>
                </a:lnTo>
                <a:lnTo>
                  <a:pt x="5667375" y="3438525"/>
                </a:lnTo>
                <a:lnTo>
                  <a:pt x="0" y="343852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647700" y="4286250"/>
            <a:ext cx="1314450" cy="1504950"/>
          </a:xfrm>
          <a:custGeom>
            <a:avLst/>
            <a:gdLst/>
            <a:ahLst/>
            <a:cxnLst/>
            <a:rect r="r" b="b" t="t" l="l"/>
            <a:pathLst>
              <a:path h="1504950" w="1314450">
                <a:moveTo>
                  <a:pt x="0" y="0"/>
                </a:moveTo>
                <a:lnTo>
                  <a:pt x="1314450" y="0"/>
                </a:lnTo>
                <a:lnTo>
                  <a:pt x="131445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42416" y="4825746"/>
            <a:ext cx="548640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91"/>
              </a:lnSpc>
            </a:pPr>
            <a:r>
              <a:rPr lang="en-US" b="true" sz="3576" spc="-107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01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993392" y="5373053"/>
            <a:ext cx="219456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54"/>
              </a:lnSpc>
            </a:pPr>
            <a:r>
              <a:rPr lang="en-US" sz="2962" spc="-88" b="true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Collect Data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993392" y="6041684"/>
            <a:ext cx="3438144" cy="1656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2"/>
              </a:lnSpc>
            </a:pPr>
            <a:r>
              <a:rPr lang="en-US" sz="2076" spc="-62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Gather marks, attendance, assignments, and academic records from multiple sources.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6096000" y="4286250"/>
            <a:ext cx="1524000" cy="1504950"/>
          </a:xfrm>
          <a:custGeom>
            <a:avLst/>
            <a:gdLst/>
            <a:ahLst/>
            <a:cxnLst/>
            <a:rect r="r" b="b" t="t" l="l"/>
            <a:pathLst>
              <a:path h="1504950" w="1524000">
                <a:moveTo>
                  <a:pt x="0" y="0"/>
                </a:moveTo>
                <a:lnTo>
                  <a:pt x="1524000" y="0"/>
                </a:lnTo>
                <a:lnTo>
                  <a:pt x="152400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6547104" y="4825746"/>
            <a:ext cx="548640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91"/>
              </a:lnSpc>
            </a:pPr>
            <a:r>
              <a:rPr lang="en-US" b="true" sz="3576" spc="-107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02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571232" y="5373053"/>
            <a:ext cx="2340864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54"/>
              </a:lnSpc>
            </a:pPr>
            <a:r>
              <a:rPr lang="en-US" sz="2962" spc="-88" b="true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Analyze Data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571232" y="6041684"/>
            <a:ext cx="3145536" cy="1656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2"/>
              </a:lnSpc>
            </a:pPr>
            <a:r>
              <a:rPr lang="en-US" sz="2076" spc="-62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Process and analyze data to identify patterns, strengths, weaknesses, and performance trends.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1753850" y="4286250"/>
            <a:ext cx="1314450" cy="1504950"/>
          </a:xfrm>
          <a:custGeom>
            <a:avLst/>
            <a:gdLst/>
            <a:ahLst/>
            <a:cxnLst/>
            <a:rect r="r" b="b" t="t" l="l"/>
            <a:pathLst>
              <a:path h="1504950" w="1314450">
                <a:moveTo>
                  <a:pt x="0" y="0"/>
                </a:moveTo>
                <a:lnTo>
                  <a:pt x="1314450" y="0"/>
                </a:lnTo>
                <a:lnTo>
                  <a:pt x="131445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2143232" y="4825746"/>
            <a:ext cx="548640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91"/>
              </a:lnSpc>
            </a:pPr>
            <a:r>
              <a:rPr lang="en-US" b="true" sz="3576" spc="-107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03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203936" y="5373053"/>
            <a:ext cx="3127248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54"/>
              </a:lnSpc>
            </a:pPr>
            <a:r>
              <a:rPr lang="en-US" sz="2962" spc="-88" b="true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Visualize Insights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203936" y="6041684"/>
            <a:ext cx="2926080" cy="1656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2"/>
              </a:lnSpc>
            </a:pPr>
            <a:r>
              <a:rPr lang="en-US" sz="2076" spc="-62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Present results through reports, charts, and dashboards for clear and actionable insights.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743700" y="7286625"/>
            <a:ext cx="11544300" cy="3000375"/>
          </a:xfrm>
          <a:custGeom>
            <a:avLst/>
            <a:gdLst/>
            <a:ahLst/>
            <a:cxnLst/>
            <a:rect r="r" b="b" t="t" l="l"/>
            <a:pathLst>
              <a:path h="3000375" w="11544300">
                <a:moveTo>
                  <a:pt x="0" y="0"/>
                </a:moveTo>
                <a:lnTo>
                  <a:pt x="11544300" y="0"/>
                </a:lnTo>
                <a:lnTo>
                  <a:pt x="11544300" y="3000375"/>
                </a:lnTo>
                <a:lnTo>
                  <a:pt x="0" y="30003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486775" y="1495425"/>
            <a:ext cx="8934450" cy="6438900"/>
          </a:xfrm>
          <a:custGeom>
            <a:avLst/>
            <a:gdLst/>
            <a:ahLst/>
            <a:cxnLst/>
            <a:rect r="r" b="b" t="t" l="l"/>
            <a:pathLst>
              <a:path h="6438900" w="8934450">
                <a:moveTo>
                  <a:pt x="0" y="0"/>
                </a:moveTo>
                <a:lnTo>
                  <a:pt x="8934450" y="0"/>
                </a:lnTo>
                <a:lnTo>
                  <a:pt x="8934450" y="6438900"/>
                </a:lnTo>
                <a:lnTo>
                  <a:pt x="0" y="64389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41248" y="1054798"/>
            <a:ext cx="4590288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75"/>
              </a:lnSpc>
            </a:pPr>
            <a:r>
              <a:rPr lang="en-US" sz="6813" b="true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Discussion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647700" y="2352675"/>
            <a:ext cx="1314450" cy="219075"/>
          </a:xfrm>
          <a:custGeom>
            <a:avLst/>
            <a:gdLst/>
            <a:ahLst/>
            <a:cxnLst/>
            <a:rect r="r" b="b" t="t" l="l"/>
            <a:pathLst>
              <a:path h="219075" w="1314450">
                <a:moveTo>
                  <a:pt x="0" y="0"/>
                </a:moveTo>
                <a:lnTo>
                  <a:pt x="1314450" y="0"/>
                </a:lnTo>
                <a:lnTo>
                  <a:pt x="13144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41248" y="3003042"/>
            <a:ext cx="5650992" cy="99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5"/>
              </a:lnSpc>
            </a:pPr>
            <a:r>
              <a:rPr lang="en-US" sz="3204" b="true">
                <a:solidFill>
                  <a:srgbClr val="3798FF"/>
                </a:solidFill>
                <a:latin typeface="Roboto Bold"/>
                <a:ea typeface="Roboto Bold"/>
                <a:cs typeface="Roboto Bold"/>
                <a:sym typeface="Roboto Bold"/>
              </a:rPr>
              <a:t>Organized data turns insights into academic impact.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41248" y="4384334"/>
            <a:ext cx="5120640" cy="843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9"/>
              </a:lnSpc>
            </a:pPr>
            <a:r>
              <a:rPr lang="en-US" sz="2428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Enables teachers to track academic progress comprehensively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41248" y="5649635"/>
            <a:ext cx="4681728" cy="843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9"/>
              </a:lnSpc>
            </a:pPr>
            <a:r>
              <a:rPr lang="en-US" sz="2428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Facilitates comparison of marks, attendance, and other factors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41248" y="6975122"/>
            <a:ext cx="5047488" cy="8256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4"/>
              </a:lnSpc>
            </a:pPr>
            <a:r>
              <a:rPr lang="en-US" sz="2367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Helps identify both high performers and students needing support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41248" y="8271284"/>
            <a:ext cx="5394960" cy="8256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4"/>
              </a:lnSpc>
            </a:pPr>
            <a:r>
              <a:rPr lang="en-US" sz="2367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Data-driven insights lead to better understanding and stronger outcomes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8705850" y="2352675"/>
            <a:ext cx="1314450" cy="647700"/>
          </a:xfrm>
          <a:custGeom>
            <a:avLst/>
            <a:gdLst/>
            <a:ahLst/>
            <a:cxnLst/>
            <a:rect r="r" b="b" t="t" l="l"/>
            <a:pathLst>
              <a:path h="647700" w="1314450">
                <a:moveTo>
                  <a:pt x="0" y="0"/>
                </a:moveTo>
                <a:lnTo>
                  <a:pt x="1314450" y="0"/>
                </a:lnTo>
                <a:lnTo>
                  <a:pt x="13144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8942832" y="3474268"/>
            <a:ext cx="731520" cy="182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83"/>
              </a:lnSpc>
            </a:pPr>
            <a:r>
              <a:rPr lang="en-US" sz="1059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Attendance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942832" y="3840254"/>
            <a:ext cx="402336" cy="191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9"/>
              </a:lnSpc>
            </a:pPr>
            <a:r>
              <a:rPr lang="en-US" sz="1092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Marks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942832" y="4297228"/>
            <a:ext cx="822960" cy="182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83"/>
              </a:lnSpc>
            </a:pPr>
            <a:r>
              <a:rPr lang="en-US" sz="1059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Performance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942832" y="4677847"/>
            <a:ext cx="512064" cy="182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83"/>
              </a:lnSpc>
            </a:pPr>
            <a:r>
              <a:rPr lang="en-US" sz="1059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Reports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77856" y="2143054"/>
            <a:ext cx="2468880" cy="274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8"/>
              </a:lnSpc>
            </a:pPr>
            <a:r>
              <a:rPr lang="en-US" sz="1584" b="true">
                <a:solidFill>
                  <a:srgbClr val="001524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Performance Dashboard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479024" y="2839641"/>
            <a:ext cx="859536" cy="165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1"/>
              </a:lnSpc>
            </a:pPr>
            <a:r>
              <a:rPr lang="en-US" sz="993">
                <a:solidFill>
                  <a:srgbClr val="00152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Total Students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479024" y="2997878"/>
            <a:ext cx="877824" cy="4484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0"/>
              </a:lnSpc>
            </a:pPr>
            <a:r>
              <a:rPr lang="en-US" sz="2593" b="true">
                <a:solidFill>
                  <a:srgbClr val="3798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1,240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198096" y="2839641"/>
            <a:ext cx="877824" cy="165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1"/>
              </a:lnSpc>
            </a:pPr>
            <a:r>
              <a:rPr lang="en-US" sz="993">
                <a:solidFill>
                  <a:srgbClr val="00152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Average Marks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198096" y="3010156"/>
            <a:ext cx="932688" cy="423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9"/>
              </a:lnSpc>
            </a:pPr>
            <a:r>
              <a:rPr lang="en-US" sz="2435" b="true">
                <a:solidFill>
                  <a:srgbClr val="3798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78.6%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935456" y="2825770"/>
            <a:ext cx="1024128" cy="183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026">
                <a:solidFill>
                  <a:srgbClr val="00152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Attendance Rate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935456" y="3023640"/>
            <a:ext cx="932688" cy="4064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0"/>
              </a:lnSpc>
            </a:pPr>
            <a:r>
              <a:rPr lang="en-US" sz="2371" b="true">
                <a:solidFill>
                  <a:srgbClr val="3798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92.4%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5672816" y="3015722"/>
            <a:ext cx="402336" cy="422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7"/>
              </a:lnSpc>
            </a:pPr>
            <a:r>
              <a:rPr lang="en-US" sz="2498" b="true">
                <a:solidFill>
                  <a:srgbClr val="3798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82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10448925" y="4286250"/>
            <a:ext cx="1533525" cy="1714500"/>
          </a:xfrm>
          <a:custGeom>
            <a:avLst/>
            <a:gdLst/>
            <a:ahLst/>
            <a:cxnLst/>
            <a:rect r="r" b="b" t="t" l="l"/>
            <a:pathLst>
              <a:path h="1714500" w="1533525">
                <a:moveTo>
                  <a:pt x="0" y="0"/>
                </a:moveTo>
                <a:lnTo>
                  <a:pt x="1533525" y="0"/>
                </a:lnTo>
                <a:lnTo>
                  <a:pt x="1533525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1972925" y="4495800"/>
            <a:ext cx="219075" cy="438150"/>
          </a:xfrm>
          <a:custGeom>
            <a:avLst/>
            <a:gdLst/>
            <a:ahLst/>
            <a:cxnLst/>
            <a:rect r="r" b="b" t="t" l="l"/>
            <a:pathLst>
              <a:path h="438150" w="219075">
                <a:moveTo>
                  <a:pt x="0" y="0"/>
                </a:moveTo>
                <a:lnTo>
                  <a:pt x="219075" y="0"/>
                </a:lnTo>
                <a:lnTo>
                  <a:pt x="21907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1972925" y="4924425"/>
            <a:ext cx="219075" cy="438150"/>
          </a:xfrm>
          <a:custGeom>
            <a:avLst/>
            <a:gdLst/>
            <a:ahLst/>
            <a:cxnLst/>
            <a:rect r="r" b="b" t="t" l="l"/>
            <a:pathLst>
              <a:path h="438150" w="219075">
                <a:moveTo>
                  <a:pt x="0" y="0"/>
                </a:moveTo>
                <a:lnTo>
                  <a:pt x="219075" y="0"/>
                </a:lnTo>
                <a:lnTo>
                  <a:pt x="21907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1972925" y="5353050"/>
            <a:ext cx="219075" cy="438150"/>
          </a:xfrm>
          <a:custGeom>
            <a:avLst/>
            <a:gdLst/>
            <a:ahLst/>
            <a:cxnLst/>
            <a:rect r="r" b="b" t="t" l="l"/>
            <a:pathLst>
              <a:path h="438150" w="219075">
                <a:moveTo>
                  <a:pt x="0" y="0"/>
                </a:moveTo>
                <a:lnTo>
                  <a:pt x="219075" y="0"/>
                </a:lnTo>
                <a:lnTo>
                  <a:pt x="21907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5668625" y="4495800"/>
            <a:ext cx="1095375" cy="219075"/>
          </a:xfrm>
          <a:custGeom>
            <a:avLst/>
            <a:gdLst/>
            <a:ahLst/>
            <a:cxnLst/>
            <a:rect r="r" b="b" t="t" l="l"/>
            <a:pathLst>
              <a:path h="219075" w="1095375">
                <a:moveTo>
                  <a:pt x="0" y="0"/>
                </a:moveTo>
                <a:lnTo>
                  <a:pt x="1095375" y="0"/>
                </a:lnTo>
                <a:lnTo>
                  <a:pt x="109537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5668625" y="4714875"/>
            <a:ext cx="1095375" cy="428625"/>
          </a:xfrm>
          <a:custGeom>
            <a:avLst/>
            <a:gdLst/>
            <a:ahLst/>
            <a:cxnLst/>
            <a:rect r="r" b="b" t="t" l="l"/>
            <a:pathLst>
              <a:path h="428625" w="1095375">
                <a:moveTo>
                  <a:pt x="0" y="0"/>
                </a:moveTo>
                <a:lnTo>
                  <a:pt x="1095375" y="0"/>
                </a:lnTo>
                <a:lnTo>
                  <a:pt x="109537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5668625" y="5143500"/>
            <a:ext cx="1095375" cy="428625"/>
          </a:xfrm>
          <a:custGeom>
            <a:avLst/>
            <a:gdLst/>
            <a:ahLst/>
            <a:cxnLst/>
            <a:rect r="r" b="b" t="t" l="l"/>
            <a:pathLst>
              <a:path h="428625" w="1095375">
                <a:moveTo>
                  <a:pt x="0" y="0"/>
                </a:moveTo>
                <a:lnTo>
                  <a:pt x="1095375" y="0"/>
                </a:lnTo>
                <a:lnTo>
                  <a:pt x="109537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5668625" y="5572125"/>
            <a:ext cx="1095375" cy="428625"/>
          </a:xfrm>
          <a:custGeom>
            <a:avLst/>
            <a:gdLst/>
            <a:ahLst/>
            <a:cxnLst/>
            <a:rect r="r" b="b" t="t" l="l"/>
            <a:pathLst>
              <a:path h="428625" w="1095375">
                <a:moveTo>
                  <a:pt x="0" y="0"/>
                </a:moveTo>
                <a:lnTo>
                  <a:pt x="1095375" y="0"/>
                </a:lnTo>
                <a:lnTo>
                  <a:pt x="109537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15672816" y="2839641"/>
            <a:ext cx="969264" cy="165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1"/>
              </a:lnSpc>
            </a:pPr>
            <a:r>
              <a:rPr lang="en-US" sz="993">
                <a:solidFill>
                  <a:srgbClr val="00152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At Risk Students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479024" y="4025420"/>
            <a:ext cx="2359152" cy="191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9"/>
              </a:lnSpc>
            </a:pPr>
            <a:r>
              <a:rPr lang="en-US" sz="1092" b="true">
                <a:solidFill>
                  <a:srgbClr val="001524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Student Performance by Category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3935456" y="4025420"/>
            <a:ext cx="2121408" cy="191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9"/>
              </a:lnSpc>
            </a:pPr>
            <a:r>
              <a:rPr lang="en-US" sz="1092" b="true">
                <a:solidFill>
                  <a:srgbClr val="001524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Top Subjects by Average Marks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198096" y="4025420"/>
            <a:ext cx="2359152" cy="191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9"/>
              </a:lnSpc>
            </a:pPr>
            <a:r>
              <a:rPr lang="en-US" sz="1092" b="true">
                <a:solidFill>
                  <a:srgbClr val="001524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Student Performance by Category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3935456" y="4025420"/>
            <a:ext cx="2121408" cy="191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9"/>
              </a:lnSpc>
            </a:pPr>
            <a:r>
              <a:rPr lang="en-US" sz="1092" b="true">
                <a:solidFill>
                  <a:srgbClr val="001524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Top Subjects by Average Marks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2198096" y="4615708"/>
            <a:ext cx="1024128" cy="183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026">
                <a:solidFill>
                  <a:srgbClr val="00152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High Performers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801600" y="4611779"/>
            <a:ext cx="292608" cy="191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9"/>
              </a:lnSpc>
            </a:pPr>
            <a:r>
              <a:rPr lang="en-US" sz="1092">
                <a:solidFill>
                  <a:srgbClr val="00152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35%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5343632" y="4616125"/>
            <a:ext cx="292608" cy="182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83"/>
              </a:lnSpc>
            </a:pPr>
            <a:r>
              <a:rPr lang="en-US" sz="1059">
                <a:solidFill>
                  <a:srgbClr val="00152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82%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3935456" y="4611779"/>
            <a:ext cx="932688" cy="191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9"/>
              </a:lnSpc>
            </a:pPr>
            <a:r>
              <a:rPr lang="en-US" sz="1092">
                <a:solidFill>
                  <a:srgbClr val="00152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Mathematics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2198096" y="4903744"/>
            <a:ext cx="1225296" cy="183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026">
                <a:solidFill>
                  <a:srgbClr val="00152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Average Performers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2801600" y="4899815"/>
            <a:ext cx="292608" cy="191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9"/>
              </a:lnSpc>
            </a:pPr>
            <a:r>
              <a:rPr lang="en-US" sz="1092">
                <a:solidFill>
                  <a:srgbClr val="00152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45%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5343632" y="4899815"/>
            <a:ext cx="292608" cy="191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9"/>
              </a:lnSpc>
            </a:pPr>
            <a:r>
              <a:rPr lang="en-US" sz="1092">
                <a:solidFill>
                  <a:srgbClr val="00152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76%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3935456" y="4899815"/>
            <a:ext cx="512064" cy="191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9"/>
              </a:lnSpc>
            </a:pPr>
            <a:r>
              <a:rPr lang="en-US" sz="1092">
                <a:solidFill>
                  <a:srgbClr val="00152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Science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2198096" y="5397520"/>
            <a:ext cx="932688" cy="183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026">
                <a:solidFill>
                  <a:srgbClr val="00152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Needs Support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2801600" y="5393591"/>
            <a:ext cx="384048" cy="191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9"/>
              </a:lnSpc>
            </a:pPr>
            <a:r>
              <a:rPr lang="en-US" sz="1092">
                <a:solidFill>
                  <a:srgbClr val="00152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20%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5343632" y="5393591"/>
            <a:ext cx="292608" cy="191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9"/>
              </a:lnSpc>
            </a:pPr>
            <a:r>
              <a:rPr lang="en-US" sz="1092">
                <a:solidFill>
                  <a:srgbClr val="00152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74%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3935456" y="5393591"/>
            <a:ext cx="512064" cy="191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9"/>
              </a:lnSpc>
            </a:pPr>
            <a:r>
              <a:rPr lang="en-US" sz="1092">
                <a:solidFill>
                  <a:srgbClr val="00152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English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2198096" y="5681627"/>
            <a:ext cx="932688" cy="191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9"/>
              </a:lnSpc>
            </a:pPr>
            <a:r>
              <a:rPr lang="en-US" sz="1092">
                <a:solidFill>
                  <a:srgbClr val="00152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Social Studies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5343632" y="5681627"/>
            <a:ext cx="292608" cy="191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9"/>
              </a:lnSpc>
            </a:pPr>
            <a:r>
              <a:rPr lang="en-US" sz="1092">
                <a:solidFill>
                  <a:srgbClr val="00152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71%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0479024" y="6539794"/>
            <a:ext cx="822960" cy="182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83"/>
              </a:lnSpc>
            </a:pPr>
            <a:r>
              <a:rPr lang="en-US" sz="1059" b="true">
                <a:solidFill>
                  <a:srgbClr val="001524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Key Insights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0479024" y="6920794"/>
            <a:ext cx="2414016" cy="4302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47"/>
              </a:lnSpc>
            </a:pPr>
            <a:r>
              <a:rPr lang="en-US" sz="1092" b="true">
                <a:solidFill>
                  <a:srgbClr val="3798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Strong performance in Mathematics and Science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3935456" y="6981635"/>
            <a:ext cx="1938528" cy="327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80"/>
              </a:lnSpc>
            </a:pPr>
            <a:r>
              <a:rPr lang="en-US" sz="862" b="true">
                <a:solidFill>
                  <a:srgbClr val="3798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Focused support needed for at-risk students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8942832" y="3099590"/>
            <a:ext cx="640080" cy="191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9"/>
              </a:lnSpc>
            </a:pPr>
            <a:r>
              <a:rPr lang="en-US" sz="1092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Students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8942832" y="5054120"/>
            <a:ext cx="512064" cy="191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9"/>
              </a:lnSpc>
            </a:pPr>
            <a:r>
              <a:rPr lang="en-US" sz="1092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Insights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68096" y="1403413"/>
            <a:ext cx="4974336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55"/>
              </a:lnSpc>
            </a:pPr>
            <a:r>
              <a:rPr lang="en-US" sz="6546" spc="-130" b="true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Key Findings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47700" y="2571750"/>
            <a:ext cx="1971675" cy="219075"/>
          </a:xfrm>
          <a:custGeom>
            <a:avLst/>
            <a:gdLst/>
            <a:ahLst/>
            <a:cxnLst/>
            <a:rect r="r" b="b" t="t" l="l"/>
            <a:pathLst>
              <a:path h="219075" w="1971675">
                <a:moveTo>
                  <a:pt x="0" y="0"/>
                </a:moveTo>
                <a:lnTo>
                  <a:pt x="1971675" y="0"/>
                </a:lnTo>
                <a:lnTo>
                  <a:pt x="197167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68096" y="3245310"/>
            <a:ext cx="3749040" cy="1438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5"/>
              </a:lnSpc>
            </a:pPr>
            <a:r>
              <a:rPr lang="en-US" sz="242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The </a:t>
            </a:r>
            <a:r>
              <a:rPr lang="en-US" sz="2428" b="true">
                <a:solidFill>
                  <a:srgbClr val="387AF6"/>
                </a:solidFill>
                <a:latin typeface="Roboto Bold"/>
                <a:ea typeface="Roboto Bold"/>
                <a:cs typeface="Roboto Bold"/>
                <a:sym typeface="Roboto Bold"/>
              </a:rPr>
              <a:t>Students Performance</a:t>
            </a:r>
            <a:r>
              <a:rPr lang="en-US" sz="242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Analysis System delivers measurable impact.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6305550" y="1924050"/>
            <a:ext cx="6543675" cy="2152650"/>
          </a:xfrm>
          <a:custGeom>
            <a:avLst/>
            <a:gdLst/>
            <a:ahLst/>
            <a:cxnLst/>
            <a:rect r="r" b="b" t="t" l="l"/>
            <a:pathLst>
              <a:path h="2152650" w="6543675">
                <a:moveTo>
                  <a:pt x="0" y="0"/>
                </a:moveTo>
                <a:lnTo>
                  <a:pt x="6543675" y="0"/>
                </a:lnTo>
                <a:lnTo>
                  <a:pt x="6543675" y="2152650"/>
                </a:lnTo>
                <a:lnTo>
                  <a:pt x="0" y="21526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077456" y="2645092"/>
            <a:ext cx="2267712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71"/>
              </a:lnSpc>
            </a:pPr>
            <a:r>
              <a:rPr lang="en-US" sz="6142" spc="-122" b="true">
                <a:solidFill>
                  <a:srgbClr val="387AF6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78.6%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820656" y="2546033"/>
            <a:ext cx="1938528" cy="1135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5"/>
              </a:lnSpc>
            </a:pPr>
            <a:r>
              <a:rPr lang="en-US" sz="2175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early detection of performance changes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6305550" y="4286250"/>
            <a:ext cx="6543675" cy="2143125"/>
          </a:xfrm>
          <a:custGeom>
            <a:avLst/>
            <a:gdLst/>
            <a:ahLst/>
            <a:cxnLst/>
            <a:rect r="r" b="b" t="t" l="l"/>
            <a:pathLst>
              <a:path h="2143125" w="6543675">
                <a:moveTo>
                  <a:pt x="0" y="0"/>
                </a:moveTo>
                <a:lnTo>
                  <a:pt x="6543675" y="0"/>
                </a:lnTo>
                <a:lnTo>
                  <a:pt x="6543675" y="2143125"/>
                </a:lnTo>
                <a:lnTo>
                  <a:pt x="0" y="21431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7077456" y="4825937"/>
            <a:ext cx="2267712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20"/>
              </a:lnSpc>
            </a:pPr>
            <a:r>
              <a:rPr lang="en-US" sz="6016" spc="-120" b="true">
                <a:solidFill>
                  <a:srgbClr val="387AF6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92.4%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820656" y="4760666"/>
            <a:ext cx="2322576" cy="1108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6"/>
              </a:lnSpc>
            </a:pPr>
            <a:r>
              <a:rPr lang="en-US" sz="2090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influence from attendance and academic activities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6305550" y="6429375"/>
            <a:ext cx="6543675" cy="2143125"/>
          </a:xfrm>
          <a:custGeom>
            <a:avLst/>
            <a:gdLst/>
            <a:ahLst/>
            <a:cxnLst/>
            <a:rect r="r" b="b" t="t" l="l"/>
            <a:pathLst>
              <a:path h="2143125" w="6543675">
                <a:moveTo>
                  <a:pt x="0" y="0"/>
                </a:moveTo>
                <a:lnTo>
                  <a:pt x="6543675" y="0"/>
                </a:lnTo>
                <a:lnTo>
                  <a:pt x="6543675" y="2143125"/>
                </a:lnTo>
                <a:lnTo>
                  <a:pt x="0" y="21431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7077456" y="7113651"/>
            <a:ext cx="1645920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59"/>
              </a:lnSpc>
            </a:pPr>
            <a:r>
              <a:rPr lang="en-US" sz="5966" spc="-119" b="true">
                <a:solidFill>
                  <a:srgbClr val="387AF6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82%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820656" y="7013877"/>
            <a:ext cx="2377440" cy="1108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6"/>
              </a:lnSpc>
            </a:pPr>
            <a:r>
              <a:rPr lang="en-US" sz="2118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students benefiting from personalized academic support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9791700" y="0"/>
            <a:ext cx="8496300" cy="10287000"/>
          </a:xfrm>
          <a:custGeom>
            <a:avLst/>
            <a:gdLst/>
            <a:ahLst/>
            <a:cxnLst/>
            <a:rect r="r" b="b" t="t" l="l"/>
            <a:pathLst>
              <a:path h="10287000" w="8496300">
                <a:moveTo>
                  <a:pt x="0" y="0"/>
                </a:moveTo>
                <a:lnTo>
                  <a:pt x="8496300" y="0"/>
                </a:lnTo>
                <a:lnTo>
                  <a:pt x="84963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267700" y="0"/>
            <a:ext cx="10020300" cy="10287000"/>
          </a:xfrm>
          <a:custGeom>
            <a:avLst/>
            <a:gdLst/>
            <a:ahLst/>
            <a:cxnLst/>
            <a:rect r="r" b="b" t="t" l="l"/>
            <a:pathLst>
              <a:path h="10287000" w="10020300">
                <a:moveTo>
                  <a:pt x="0" y="0"/>
                </a:moveTo>
                <a:lnTo>
                  <a:pt x="10020300" y="0"/>
                </a:lnTo>
                <a:lnTo>
                  <a:pt x="100203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0"/>
            <a:ext cx="12630150" cy="10287000"/>
          </a:xfrm>
          <a:custGeom>
            <a:avLst/>
            <a:gdLst/>
            <a:ahLst/>
            <a:cxnLst/>
            <a:rect r="r" b="b" t="t" l="l"/>
            <a:pathLst>
              <a:path h="10287000" w="12630150">
                <a:moveTo>
                  <a:pt x="0" y="0"/>
                </a:moveTo>
                <a:lnTo>
                  <a:pt x="12630150" y="0"/>
                </a:lnTo>
                <a:lnTo>
                  <a:pt x="1263015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41248" y="1262253"/>
            <a:ext cx="5468112" cy="1209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51"/>
              </a:lnSpc>
            </a:pPr>
            <a:r>
              <a:rPr lang="en-US" sz="7959" b="true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Conclusion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41248" y="2629853"/>
            <a:ext cx="5833872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7"/>
              </a:lnSpc>
            </a:pPr>
            <a:r>
              <a:rPr lang="en-US" sz="3456" b="true">
                <a:solidFill>
                  <a:srgbClr val="38B6FF"/>
                </a:solidFill>
                <a:latin typeface="Roboto Bold"/>
                <a:ea typeface="Roboto Bold"/>
                <a:cs typeface="Roboto Bold"/>
                <a:sym typeface="Roboto Bold"/>
              </a:rPr>
              <a:t>A smarter way to understand.</a:t>
            </a:r>
          </a:p>
          <a:p>
            <a:pPr algn="l">
              <a:lnSpc>
                <a:spcPts val="4147"/>
              </a:lnSpc>
            </a:pPr>
            <a:r>
              <a:rPr lang="en-US" sz="3456" b="true">
                <a:solidFill>
                  <a:srgbClr val="38B6FF"/>
                </a:solidFill>
                <a:latin typeface="Roboto Bold"/>
                <a:ea typeface="Roboto Bold"/>
                <a:cs typeface="Roboto Bold"/>
                <a:sym typeface="Roboto Bold"/>
              </a:rPr>
              <a:t>A stronger path to success.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647700" y="3857625"/>
            <a:ext cx="2190750" cy="219075"/>
          </a:xfrm>
          <a:custGeom>
            <a:avLst/>
            <a:gdLst/>
            <a:ahLst/>
            <a:cxnLst/>
            <a:rect r="r" b="b" t="t" l="l"/>
            <a:pathLst>
              <a:path h="219075" w="2190750">
                <a:moveTo>
                  <a:pt x="0" y="0"/>
                </a:moveTo>
                <a:lnTo>
                  <a:pt x="2190750" y="0"/>
                </a:lnTo>
                <a:lnTo>
                  <a:pt x="21907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841248" y="4372822"/>
            <a:ext cx="5285232" cy="833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1"/>
              </a:lnSpc>
            </a:pPr>
            <a:r>
              <a:rPr lang="en-US" sz="2593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Enhances academic monitoring and decision-making efficiency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41248" y="5523601"/>
            <a:ext cx="3767328" cy="815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7"/>
              </a:lnSpc>
            </a:pPr>
            <a:r>
              <a:rPr lang="en-US" sz="2498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Reduces manual analysis difficulties and errors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41248" y="6636523"/>
            <a:ext cx="6071616" cy="843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30"/>
              </a:lnSpc>
            </a:pPr>
            <a:r>
              <a:rPr lang="en-US" sz="2561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Provides meaningful insights to support teachers and students effectively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41248" y="7963281"/>
            <a:ext cx="4736592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75"/>
              </a:lnSpc>
            </a:pPr>
            <a:r>
              <a:rPr lang="en-US" sz="3479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Empowering education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41248" y="8518779"/>
            <a:ext cx="5742432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75"/>
              </a:lnSpc>
            </a:pPr>
            <a:r>
              <a:rPr lang="en-US" sz="3479" b="true">
                <a:solidFill>
                  <a:srgbClr val="38B6FF"/>
                </a:solidFill>
                <a:latin typeface="Roboto Bold"/>
                <a:ea typeface="Roboto Bold"/>
                <a:cs typeface="Roboto Bold"/>
                <a:sym typeface="Roboto Bold"/>
              </a:rPr>
              <a:t>through data-driven insights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DAHU6U7HsDQ</dc:identifier>
  <dcterms:modified xsi:type="dcterms:W3CDTF">2011-08-01T06:04:30Z</dcterms:modified>
  <cp:revision>1</cp:revision>
</cp:coreProperties>
</file>